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4" r:id="rId4"/>
    <p:sldId id="259" r:id="rId5"/>
    <p:sldId id="260" r:id="rId6"/>
    <p:sldId id="261" r:id="rId7"/>
    <p:sldId id="265"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AACAE9-8A9A-4DDF-9E46-2ABB59631517}" v="113" dt="2026-08-30T09:08:50.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sini Cherukuri" userId="174dfe14cda9a1e2" providerId="Windows Live" clId="Web-{B2AACAE9-8A9A-4DDF-9E46-2ABB59631517}"/>
    <pc:docChg chg="addSld delSld modSld">
      <pc:chgData name="Hamsini Cherukuri" userId="174dfe14cda9a1e2" providerId="Windows Live" clId="Web-{B2AACAE9-8A9A-4DDF-9E46-2ABB59631517}" dt="2026-08-30T09:08:50.997" v="93" actId="20577"/>
      <pc:docMkLst>
        <pc:docMk/>
      </pc:docMkLst>
      <pc:sldChg chg="delSp modSp">
        <pc:chgData name="Hamsini Cherukuri" userId="174dfe14cda9a1e2" providerId="Windows Live" clId="Web-{B2AACAE9-8A9A-4DDF-9E46-2ABB59631517}" dt="2026-08-30T09:08:50.997" v="93" actId="20577"/>
        <pc:sldMkLst>
          <pc:docMk/>
          <pc:sldMk cId="0" sldId="256"/>
        </pc:sldMkLst>
        <pc:spChg chg="del">
          <ac:chgData name="Hamsini Cherukuri" userId="174dfe14cda9a1e2" providerId="Windows Live" clId="Web-{B2AACAE9-8A9A-4DDF-9E46-2ABB59631517}" dt="2026-08-30T08:55:07.918" v="0"/>
          <ac:spMkLst>
            <pc:docMk/>
            <pc:sldMk cId="0" sldId="256"/>
            <ac:spMk id="2" creationId="{00000000-0000-0000-0000-000000000000}"/>
          </ac:spMkLst>
        </pc:spChg>
        <pc:spChg chg="del">
          <ac:chgData name="Hamsini Cherukuri" userId="174dfe14cda9a1e2" providerId="Windows Live" clId="Web-{B2AACAE9-8A9A-4DDF-9E46-2ABB59631517}" dt="2026-08-30T08:55:09.590" v="1"/>
          <ac:spMkLst>
            <pc:docMk/>
            <pc:sldMk cId="0" sldId="256"/>
            <ac:spMk id="3" creationId="{00000000-0000-0000-0000-000000000000}"/>
          </ac:spMkLst>
        </pc:spChg>
        <pc:spChg chg="del">
          <ac:chgData name="Hamsini Cherukuri" userId="174dfe14cda9a1e2" providerId="Windows Live" clId="Web-{B2AACAE9-8A9A-4DDF-9E46-2ABB59631517}" dt="2026-08-30T09:08:37.091" v="90"/>
          <ac:spMkLst>
            <pc:docMk/>
            <pc:sldMk cId="0" sldId="256"/>
            <ac:spMk id="4" creationId="{00000000-0000-0000-0000-000000000000}"/>
          </ac:spMkLst>
        </pc:spChg>
        <pc:spChg chg="del">
          <ac:chgData name="Hamsini Cherukuri" userId="174dfe14cda9a1e2" providerId="Windows Live" clId="Web-{B2AACAE9-8A9A-4DDF-9E46-2ABB59631517}" dt="2026-08-30T09:07:27.119" v="89"/>
          <ac:spMkLst>
            <pc:docMk/>
            <pc:sldMk cId="0" sldId="256"/>
            <ac:spMk id="5" creationId="{00000000-0000-0000-0000-000000000000}"/>
          </ac:spMkLst>
        </pc:spChg>
        <pc:spChg chg="mod">
          <ac:chgData name="Hamsini Cherukuri" userId="174dfe14cda9a1e2" providerId="Windows Live" clId="Web-{B2AACAE9-8A9A-4DDF-9E46-2ABB59631517}" dt="2026-08-30T09:08:50.997" v="93" actId="20577"/>
          <ac:spMkLst>
            <pc:docMk/>
            <pc:sldMk cId="0" sldId="256"/>
            <ac:spMk id="6" creationId="{00000000-0000-0000-0000-000000000000}"/>
          </ac:spMkLst>
        </pc:spChg>
      </pc:sldChg>
      <pc:sldChg chg="delSp modSp del">
        <pc:chgData name="Hamsini Cherukuri" userId="174dfe14cda9a1e2" providerId="Windows Live" clId="Web-{B2AACAE9-8A9A-4DDF-9E46-2ABB59631517}" dt="2026-08-30T08:59:54.351" v="65"/>
        <pc:sldMkLst>
          <pc:docMk/>
          <pc:sldMk cId="0" sldId="258"/>
        </pc:sldMkLst>
        <pc:spChg chg="del">
          <ac:chgData name="Hamsini Cherukuri" userId="174dfe14cda9a1e2" providerId="Windows Live" clId="Web-{B2AACAE9-8A9A-4DDF-9E46-2ABB59631517}" dt="2026-08-30T08:55:55.482" v="2"/>
          <ac:spMkLst>
            <pc:docMk/>
            <pc:sldMk cId="0" sldId="258"/>
            <ac:spMk id="5" creationId="{00000000-0000-0000-0000-000000000000}"/>
          </ac:spMkLst>
        </pc:spChg>
        <pc:spChg chg="del mod">
          <ac:chgData name="Hamsini Cherukuri" userId="174dfe14cda9a1e2" providerId="Windows Live" clId="Web-{B2AACAE9-8A9A-4DDF-9E46-2ABB59631517}" dt="2026-08-30T08:56:05.873" v="4"/>
          <ac:spMkLst>
            <pc:docMk/>
            <pc:sldMk cId="0" sldId="258"/>
            <ac:spMk id="6" creationId="{00000000-0000-0000-0000-000000000000}"/>
          </ac:spMkLst>
        </pc:spChg>
      </pc:sldChg>
      <pc:sldChg chg="modSp">
        <pc:chgData name="Hamsini Cherukuri" userId="174dfe14cda9a1e2" providerId="Windows Live" clId="Web-{B2AACAE9-8A9A-4DDF-9E46-2ABB59631517}" dt="2026-08-30T09:02:37.155" v="68" actId="20577"/>
        <pc:sldMkLst>
          <pc:docMk/>
          <pc:sldMk cId="0" sldId="260"/>
        </pc:sldMkLst>
        <pc:spChg chg="mod">
          <ac:chgData name="Hamsini Cherukuri" userId="174dfe14cda9a1e2" providerId="Windows Live" clId="Web-{B2AACAE9-8A9A-4DDF-9E46-2ABB59631517}" dt="2026-08-30T09:02:37.155" v="68" actId="20577"/>
          <ac:spMkLst>
            <pc:docMk/>
            <pc:sldMk cId="0" sldId="260"/>
            <ac:spMk id="10" creationId="{00000000-0000-0000-0000-000000000000}"/>
          </ac:spMkLst>
        </pc:spChg>
      </pc:sldChg>
      <pc:sldChg chg="delSp modSp">
        <pc:chgData name="Hamsini Cherukuri" userId="174dfe14cda9a1e2" providerId="Windows Live" clId="Web-{B2AACAE9-8A9A-4DDF-9E46-2ABB59631517}" dt="2026-08-30T09:07:04.431" v="88"/>
        <pc:sldMkLst>
          <pc:docMk/>
          <pc:sldMk cId="0" sldId="263"/>
        </pc:sldMkLst>
        <pc:spChg chg="del">
          <ac:chgData name="Hamsini Cherukuri" userId="174dfe14cda9a1e2" providerId="Windows Live" clId="Web-{B2AACAE9-8A9A-4DDF-9E46-2ABB59631517}" dt="2026-08-30T09:06:47.852" v="84"/>
          <ac:spMkLst>
            <pc:docMk/>
            <pc:sldMk cId="0" sldId="263"/>
            <ac:spMk id="2" creationId="{00000000-0000-0000-0000-000000000000}"/>
          </ac:spMkLst>
        </pc:spChg>
        <pc:spChg chg="del">
          <ac:chgData name="Hamsini Cherukuri" userId="174dfe14cda9a1e2" providerId="Windows Live" clId="Web-{B2AACAE9-8A9A-4DDF-9E46-2ABB59631517}" dt="2026-08-30T09:06:50.102" v="85"/>
          <ac:spMkLst>
            <pc:docMk/>
            <pc:sldMk cId="0" sldId="263"/>
            <ac:spMk id="3" creationId="{00000000-0000-0000-0000-000000000000}"/>
          </ac:spMkLst>
        </pc:spChg>
        <pc:spChg chg="del mod">
          <ac:chgData name="Hamsini Cherukuri" userId="174dfe14cda9a1e2" providerId="Windows Live" clId="Web-{B2AACAE9-8A9A-4DDF-9E46-2ABB59631517}" dt="2026-08-30T09:07:04.431" v="88"/>
          <ac:spMkLst>
            <pc:docMk/>
            <pc:sldMk cId="0" sldId="263"/>
            <ac:spMk id="6" creationId="{00000000-0000-0000-0000-000000000000}"/>
          </ac:spMkLst>
        </pc:spChg>
      </pc:sldChg>
      <pc:sldChg chg="addSp delSp modSp new">
        <pc:chgData name="Hamsini Cherukuri" userId="174dfe14cda9a1e2" providerId="Windows Live" clId="Web-{B2AACAE9-8A9A-4DDF-9E46-2ABB59631517}" dt="2026-08-30T08:59:48.429" v="64" actId="20577"/>
        <pc:sldMkLst>
          <pc:docMk/>
          <pc:sldMk cId="3972519390" sldId="264"/>
        </pc:sldMkLst>
        <pc:spChg chg="add del">
          <ac:chgData name="Hamsini Cherukuri" userId="174dfe14cda9a1e2" providerId="Windows Live" clId="Web-{B2AACAE9-8A9A-4DDF-9E46-2ABB59631517}" dt="2026-08-30T08:56:36.250" v="7"/>
          <ac:spMkLst>
            <pc:docMk/>
            <pc:sldMk cId="3972519390" sldId="264"/>
            <ac:spMk id="2" creationId="{15475864-269D-CAC8-D54E-82EE57CE837F}"/>
          </ac:spMkLst>
        </pc:spChg>
        <pc:spChg chg="add mod">
          <ac:chgData name="Hamsini Cherukuri" userId="174dfe14cda9a1e2" providerId="Windows Live" clId="Web-{B2AACAE9-8A9A-4DDF-9E46-2ABB59631517}" dt="2026-08-30T08:59:48.429" v="64" actId="20577"/>
          <ac:spMkLst>
            <pc:docMk/>
            <pc:sldMk cId="3972519390" sldId="264"/>
            <ac:spMk id="3" creationId="{6F113ED3-8874-3A80-E7E3-855EF007F9B6}"/>
          </ac:spMkLst>
        </pc:spChg>
      </pc:sldChg>
      <pc:sldChg chg="addSp modSp new">
        <pc:chgData name="Hamsini Cherukuri" userId="174dfe14cda9a1e2" providerId="Windows Live" clId="Web-{B2AACAE9-8A9A-4DDF-9E46-2ABB59631517}" dt="2026-08-30T09:06:40.211" v="83" actId="1076"/>
        <pc:sldMkLst>
          <pc:docMk/>
          <pc:sldMk cId="1304700039" sldId="265"/>
        </pc:sldMkLst>
        <pc:spChg chg="add mod">
          <ac:chgData name="Hamsini Cherukuri" userId="174dfe14cda9a1e2" providerId="Windows Live" clId="Web-{B2AACAE9-8A9A-4DDF-9E46-2ABB59631517}" dt="2026-08-30T09:04:33.737" v="73" actId="1076"/>
          <ac:spMkLst>
            <pc:docMk/>
            <pc:sldMk cId="1304700039" sldId="265"/>
            <ac:spMk id="2" creationId="{CE73245C-43E3-B7F1-F68B-8CC013B2BF71}"/>
          </ac:spMkLst>
        </pc:spChg>
        <pc:spChg chg="add mod">
          <ac:chgData name="Hamsini Cherukuri" userId="174dfe14cda9a1e2" providerId="Windows Live" clId="Web-{B2AACAE9-8A9A-4DDF-9E46-2ABB59631517}" dt="2026-08-30T09:04:57.098" v="77" actId="1076"/>
          <ac:spMkLst>
            <pc:docMk/>
            <pc:sldMk cId="1304700039" sldId="265"/>
            <ac:spMk id="3" creationId="{4B98ADE6-3B45-A6B1-8B28-BE75BD13D7F0}"/>
          </ac:spMkLst>
        </pc:spChg>
        <pc:picChg chg="add mod">
          <ac:chgData name="Hamsini Cherukuri" userId="174dfe14cda9a1e2" providerId="Windows Live" clId="Web-{B2AACAE9-8A9A-4DDF-9E46-2ABB59631517}" dt="2026-08-30T09:06:40.211" v="83" actId="1076"/>
          <ac:picMkLst>
            <pc:docMk/>
            <pc:sldMk cId="1304700039" sldId="265"/>
            <ac:picMk id="4" creationId="{36C9101A-3875-4FBA-15F6-4DF62A7D03C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3272ADA0-77C7-46F0-91AD-112A954815C4}" type="datetimeFigureOut">
              <a:t>8/30/2026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15A4A2C-BB76-4576-A2C6-65250A8C6B59}" type="slidenum">
              <a:t>‹#›</a:t>
            </a:fld>
            <a:endParaRPr lang="en-US"/>
          </a:p>
        </p:txBody>
      </p:sp>
    </p:spTree>
    <p:extLst>
      <p:ext uri="{BB962C8B-B14F-4D97-AF65-F5344CB8AC3E}">
        <p14:creationId xmlns:p14="http://schemas.microsoft.com/office/powerpoint/2010/main" val="2932918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457200" y="6473952"/>
            <a:ext cx="10725912" cy="274320"/>
          </a:xfrm>
          <a:prstGeom prst="rect">
            <a:avLst/>
          </a:prstGeom>
          <a:noFill/>
          <a:ln/>
        </p:spPr>
        <p:txBody>
          <a:bodyPr wrap="square" rtlCol="0" anchor="ctr"/>
          <a:lstStyle/>
          <a:p>
            <a:pPr marL="0" indent="0" algn="l">
              <a:buNone/>
            </a:pPr>
            <a:r>
              <a:rPr lang="en-US" sz="900" dirty="0">
                <a:solidFill>
                  <a:srgbClr val="5B6B7A"/>
                </a:solidFill>
                <a:latin typeface="Calibri" pitchFamily="34" charset="0"/>
                <a:ea typeface="Calibri" pitchFamily="34" charset="-122"/>
                <a:cs typeface="Calibri" pitchFamily="34" charset="-120"/>
              </a:rPr>
              <a:t>DBSE Project  |  Vehicle Parking Finder &amp; Booking App</a:t>
            </a:r>
            <a:endParaRPr lang="en-US" sz="900" dirty="0"/>
          </a:p>
        </p:txBody>
      </p:sp>
      <p:sp>
        <p:nvSpPr>
          <p:cNvPr id="4" name="Text 2"/>
          <p:cNvSpPr/>
          <p:nvPr/>
        </p:nvSpPr>
        <p:spPr>
          <a:xfrm>
            <a:off x="9811512" y="6473952"/>
            <a:ext cx="1920240" cy="274320"/>
          </a:xfrm>
          <a:prstGeom prst="rect">
            <a:avLst/>
          </a:prstGeom>
          <a:noFill/>
          <a:ln/>
        </p:spPr>
        <p:txBody>
          <a:bodyPr wrap="square" rtlCol="0" anchor="ctr"/>
          <a:lstStyle/>
          <a:p>
            <a:pPr marL="0" indent="0" algn="r">
              <a:buNone/>
            </a:pPr>
            <a:r>
              <a:rPr lang="en-US" sz="900" dirty="0">
                <a:solidFill>
                  <a:srgbClr val="5B6B7A"/>
                </a:solidFill>
                <a:latin typeface="Calibri" pitchFamily="34" charset="0"/>
                <a:ea typeface="Calibri" pitchFamily="34" charset="-122"/>
                <a:cs typeface="Calibri" pitchFamily="34" charset="-120"/>
              </a:rPr>
              <a:t>Team 25 · Sec 08</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3F"/>
        </a:solidFill>
        <a:effectLst/>
      </p:bgPr>
    </p:bg>
    <p:spTree>
      <p:nvGrpSpPr>
        <p:cNvPr id="1" name=""/>
        <p:cNvGrpSpPr/>
        <p:nvPr/>
      </p:nvGrpSpPr>
      <p:grpSpPr>
        <a:xfrm>
          <a:off x="0" y="0"/>
          <a:ext cx="0" cy="0"/>
          <a:chOff x="0" y="0"/>
          <a:chExt cx="0" cy="0"/>
        </a:xfrm>
      </p:grpSpPr>
      <p:sp>
        <p:nvSpPr>
          <p:cNvPr id="6" name="Text 4"/>
          <p:cNvSpPr txBox="1"/>
          <p:nvPr/>
        </p:nvSpPr>
        <p:spPr>
          <a:xfrm>
            <a:off x="822960" y="2331720"/>
            <a:ext cx="7315200" cy="320040"/>
          </a:xfrm>
          <a:prstGeom prst="rect">
            <a:avLst/>
          </a:prstGeom>
          <a:noFill/>
          <a:ln/>
        </p:spPr>
        <p:txBody>
          <a:bodyPr wrap="square" lIns="0" tIns="0" rIns="0" bIns="0" rtlCol="0" anchor="ctr"/>
          <a:lstStyle/>
          <a:p>
            <a:r>
              <a:rPr lang="en-US" sz="1300" b="1" kern="0" spc="300">
                <a:solidFill>
                  <a:srgbClr val="9FC3DE"/>
                </a:solidFill>
                <a:latin typeface="Calibri"/>
                <a:ea typeface="Calibri"/>
                <a:cs typeface="Calibri"/>
              </a:rPr>
              <a:t>DBSE&amp;DBD  PROJECT</a:t>
            </a:r>
            <a:endParaRPr lang="en-US" sz="1300">
              <a:latin typeface="Calibri"/>
              <a:ea typeface="Calibri"/>
              <a:cs typeface="Calibri"/>
            </a:endParaRPr>
          </a:p>
        </p:txBody>
      </p:sp>
      <p:sp>
        <p:nvSpPr>
          <p:cNvPr id="7" name="Text 5"/>
          <p:cNvSpPr txBox="1"/>
          <p:nvPr/>
        </p:nvSpPr>
        <p:spPr>
          <a:xfrm>
            <a:off x="777240" y="2651760"/>
            <a:ext cx="9601200" cy="173736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Vehicle Parking Finder</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&amp; Booking App</a:t>
            </a:r>
            <a:endParaRPr lang="en-US" sz="4200" dirty="0"/>
          </a:p>
        </p:txBody>
      </p:sp>
      <p:sp>
        <p:nvSpPr>
          <p:cNvPr id="8" name="Text 6"/>
          <p:cNvSpPr txBox="1"/>
          <p:nvPr/>
        </p:nvSpPr>
        <p:spPr>
          <a:xfrm>
            <a:off x="822960" y="4754880"/>
            <a:ext cx="7315200" cy="320040"/>
          </a:xfrm>
          <a:prstGeom prst="rect">
            <a:avLst/>
          </a:prstGeom>
          <a:noFill/>
          <a:ln/>
        </p:spPr>
        <p:txBody>
          <a:bodyPr wrap="square" lIns="0" tIns="0" rIns="0" bIns="0" rtlCol="0" anchor="ctr"/>
          <a:lstStyle/>
          <a:p>
            <a:pPr marL="0" indent="0">
              <a:buNone/>
            </a:pPr>
            <a:r>
              <a:rPr lang="en-US" sz="1500" dirty="0">
                <a:solidFill>
                  <a:srgbClr val="CADCE8"/>
                </a:solidFill>
                <a:latin typeface="Calibri" pitchFamily="34" charset="0"/>
                <a:ea typeface="Calibri" pitchFamily="34" charset="-122"/>
                <a:cs typeface="Calibri" pitchFamily="34" charset="-120"/>
              </a:rPr>
              <a:t>Team No. 25   ·   Section 08</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5257800"/>
          <a:ext cx="5852160" cy="1005840"/>
        </p:xfrm>
        <a:graphic>
          <a:graphicData uri="http://schemas.openxmlformats.org/drawingml/2006/table">
            <a:tbl>
              <a:tblPr/>
              <a:tblGrid>
                <a:gridCol w="33832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335280">
                <a:tc>
                  <a:txBody>
                    <a:bodyPr/>
                    <a:lstStyle/>
                    <a:p>
                      <a:pPr marL="0" indent="0">
                        <a:buNone/>
                      </a:pPr>
                      <a:r>
                        <a:rPr lang="en-US" sz="1200" b="1" dirty="0">
                          <a:solidFill>
                            <a:srgbClr val="2E86AB"/>
                          </a:solidFill>
                          <a:latin typeface="Calibri" pitchFamily="34" charset="0"/>
                          <a:ea typeface="Calibri" pitchFamily="34" charset="-122"/>
                          <a:cs typeface="Calibri" pitchFamily="34" charset="-120"/>
                        </a:rPr>
                        <a:t>Student Name</a:t>
                      </a:r>
                      <a:endParaRPr lang="en-US" sz="1200" dirty="0">
                        <a:latin typeface="Calibri" charset="0"/>
                        <a:ea typeface="Calibri" charset="0"/>
                        <a:cs typeface="Calibri" charset="0"/>
                      </a:endParaRPr>
                    </a:p>
                  </a:txBody>
                  <a:tcPr marL="127000" marR="127000" marT="50800" marB="50800">
                    <a:lnL w="0" cap="flat" cmpd="sng" algn="ctr">
                      <a:noFill/>
                    </a:lnL>
                    <a:lnR w="0" cap="flat" cmpd="sng" algn="ctr">
                      <a:noFill/>
                    </a:lnR>
                    <a:lnT w="0" cap="flat" cmpd="sng" algn="ctr">
                      <a:noFill/>
                    </a:lnT>
                    <a:lnB w="0" cap="flat" cmpd="sng" algn="ctr">
                      <a:noFill/>
                    </a:lnB>
                    <a:solidFill>
                      <a:srgbClr val="1B334F"/>
                    </a:solidFill>
                  </a:tcPr>
                </a:tc>
                <a:tc>
                  <a:txBody>
                    <a:bodyPr/>
                    <a:lstStyle/>
                    <a:p>
                      <a:pPr marL="0" indent="0">
                        <a:buNone/>
                      </a:pPr>
                      <a:r>
                        <a:rPr lang="en-US" sz="1200" b="1" dirty="0">
                          <a:solidFill>
                            <a:srgbClr val="2E86AB"/>
                          </a:solidFill>
                          <a:latin typeface="Calibri" pitchFamily="34" charset="0"/>
                          <a:ea typeface="Calibri" pitchFamily="34" charset="-122"/>
                          <a:cs typeface="Calibri" pitchFamily="34" charset="-120"/>
                        </a:rPr>
                        <a:t>Roll Number</a:t>
                      </a:r>
                      <a:endParaRPr lang="en-US" sz="1200" dirty="0">
                        <a:latin typeface="Calibri" charset="0"/>
                        <a:ea typeface="Calibri" charset="0"/>
                        <a:cs typeface="Calibri" charset="0"/>
                      </a:endParaRPr>
                    </a:p>
                  </a:txBody>
                  <a:tcPr marL="127000" marR="127000" marT="50800" marB="50800">
                    <a:lnL w="0" cap="flat" cmpd="sng" algn="ctr">
                      <a:noFill/>
                    </a:lnL>
                    <a:lnR w="0" cap="flat" cmpd="sng" algn="ctr">
                      <a:noFill/>
                    </a:lnR>
                    <a:lnT w="0" cap="flat" cmpd="sng" algn="ctr">
                      <a:noFill/>
                    </a:lnT>
                    <a:lnB w="0" cap="flat" cmpd="sng" algn="ctr">
                      <a:noFill/>
                    </a:lnB>
                    <a:solidFill>
                      <a:srgbClr val="1B334F"/>
                    </a:solidFill>
                  </a:tcPr>
                </a:tc>
                <a:extLst>
                  <a:ext uri="{0D108BD9-81ED-4DB2-BD59-A6C34878D82A}">
                    <a16:rowId xmlns:a16="http://schemas.microsoft.com/office/drawing/2014/main" val="10000"/>
                  </a:ext>
                </a:extLst>
              </a:tr>
              <a:tr h="335280">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Cherukuri Hamsini</a:t>
                      </a:r>
                      <a:endParaRPr lang="en-US" sz="1300" dirty="0">
                        <a:latin typeface="Calibri" charset="0"/>
                        <a:ea typeface="Calibri" charset="0"/>
                        <a:cs typeface="Calibri" charset="0"/>
                      </a:endParaRPr>
                    </a:p>
                  </a:txBody>
                  <a:tcPr marL="127000" marR="127000" marT="50800" marB="50800">
                    <a:lnL w="0" cap="flat" cmpd="sng" algn="ctr">
                      <a:noFill/>
                    </a:lnL>
                    <a:lnR w="0" cap="flat" cmpd="sng" algn="ctr">
                      <a:noFill/>
                    </a:lnR>
                    <a:lnT w="0" cap="flat" cmpd="sng" algn="ctr">
                      <a:noFill/>
                    </a:lnT>
                    <a:lnB w="0" cap="flat" cmpd="sng" algn="ctr">
                      <a:noFill/>
                    </a:lnB>
                    <a:solidFill>
                      <a:srgbClr val="1B334F"/>
                    </a:solidFill>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2520030016</a:t>
                      </a:r>
                      <a:endParaRPr lang="en-US" sz="1300" dirty="0">
                        <a:latin typeface="Calibri" charset="0"/>
                        <a:ea typeface="Calibri" charset="0"/>
                        <a:cs typeface="Calibri" charset="0"/>
                      </a:endParaRPr>
                    </a:p>
                  </a:txBody>
                  <a:tcPr marL="127000" marR="127000" marT="50800" marB="50800">
                    <a:lnL w="0" cap="flat" cmpd="sng" algn="ctr">
                      <a:noFill/>
                    </a:lnL>
                    <a:lnR w="0" cap="flat" cmpd="sng" algn="ctr">
                      <a:noFill/>
                    </a:lnR>
                    <a:lnT w="0" cap="flat" cmpd="sng" algn="ctr">
                      <a:noFill/>
                    </a:lnT>
                    <a:lnB w="0" cap="flat" cmpd="sng" algn="ctr">
                      <a:noFill/>
                    </a:lnB>
                    <a:solidFill>
                      <a:srgbClr val="1B334F"/>
                    </a:solidFill>
                  </a:tcPr>
                </a:tc>
                <a:extLst>
                  <a:ext uri="{0D108BD9-81ED-4DB2-BD59-A6C34878D82A}">
                    <a16:rowId xmlns:a16="http://schemas.microsoft.com/office/drawing/2014/main" val="10001"/>
                  </a:ext>
                </a:extLst>
              </a:tr>
              <a:tr h="335280">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Hasini Reddy</a:t>
                      </a:r>
                      <a:endParaRPr lang="en-US" sz="1300" dirty="0">
                        <a:latin typeface="Calibri" charset="0"/>
                        <a:ea typeface="Calibri" charset="0"/>
                        <a:cs typeface="Calibri" charset="0"/>
                      </a:endParaRPr>
                    </a:p>
                  </a:txBody>
                  <a:tcPr marL="127000" marR="127000" marT="50800" marB="50800">
                    <a:lnL w="0" cap="flat" cmpd="sng" algn="ctr">
                      <a:noFill/>
                    </a:lnL>
                    <a:lnR w="0" cap="flat" cmpd="sng" algn="ctr">
                      <a:noFill/>
                    </a:lnR>
                    <a:lnT w="0" cap="flat" cmpd="sng" algn="ctr">
                      <a:noFill/>
                    </a:lnT>
                    <a:lnB w="0" cap="flat" cmpd="sng" algn="ctr">
                      <a:noFill/>
                    </a:lnB>
                    <a:solidFill>
                      <a:srgbClr val="1B334F"/>
                    </a:solidFill>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2520030116</a:t>
                      </a:r>
                      <a:endParaRPr lang="en-US" sz="1300" dirty="0">
                        <a:latin typeface="Calibri" charset="0"/>
                        <a:ea typeface="Calibri" charset="0"/>
                        <a:cs typeface="Calibri" charset="0"/>
                      </a:endParaRPr>
                    </a:p>
                  </a:txBody>
                  <a:tcPr marL="127000" marR="127000" marT="50800" marB="50800">
                    <a:lnL w="0" cap="flat" cmpd="sng" algn="ctr">
                      <a:noFill/>
                    </a:lnL>
                    <a:lnR w="0" cap="flat" cmpd="sng" algn="ctr">
                      <a:noFill/>
                    </a:lnR>
                    <a:lnT w="0" cap="flat" cmpd="sng" algn="ctr">
                      <a:noFill/>
                    </a:lnT>
                    <a:lnB w="0" cap="flat" cmpd="sng" algn="ctr">
                      <a:noFill/>
                    </a:lnB>
                    <a:solidFill>
                      <a:srgbClr val="1B334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marL="0" indent="0">
              <a:buNone/>
            </a:pPr>
            <a:r>
              <a:rPr lang="en-US" sz="1200" b="1" kern="0" spc="200" dirty="0">
                <a:solidFill>
                  <a:srgbClr val="2E86AB"/>
                </a:solidFill>
                <a:latin typeface="Calibri" pitchFamily="34" charset="0"/>
                <a:ea typeface="Calibri" pitchFamily="34" charset="-122"/>
                <a:cs typeface="Calibri" pitchFamily="34" charset="-120"/>
              </a:rPr>
              <a:t>INTRODUCTION</a:t>
            </a:r>
            <a:endParaRPr lang="en-US" sz="1200" dirty="0"/>
          </a:p>
        </p:txBody>
      </p:sp>
      <p:sp>
        <p:nvSpPr>
          <p:cNvPr id="3" name="Text 1"/>
          <p:cNvSpPr txBox="1"/>
          <p:nvPr/>
        </p:nvSpPr>
        <p:spPr>
          <a:xfrm>
            <a:off x="548640" y="704088"/>
            <a:ext cx="10515600" cy="548640"/>
          </a:xfrm>
          <a:prstGeom prst="rect">
            <a:avLst/>
          </a:prstGeom>
          <a:noFill/>
          <a:ln/>
        </p:spPr>
        <p:txBody>
          <a:bodyPr wrap="square" lIns="0" tIns="0" rIns="0" bIns="0" rtlCol="0" anchor="ctr"/>
          <a:lstStyle/>
          <a:p>
            <a:pPr marL="0" indent="0">
              <a:buNone/>
            </a:pPr>
            <a:r>
              <a:rPr lang="en-US" sz="3000" b="1" dirty="0">
                <a:solidFill>
                  <a:srgbClr val="1E3A5F"/>
                </a:solidFill>
                <a:latin typeface="Cambria" pitchFamily="34" charset="0"/>
                <a:ea typeface="Cambria" pitchFamily="34" charset="-122"/>
                <a:cs typeface="Cambria" pitchFamily="34" charset="-120"/>
              </a:rPr>
              <a:t>Introduction to the Project</a:t>
            </a:r>
            <a:endParaRPr lang="en-US" sz="3000" dirty="0"/>
          </a:p>
        </p:txBody>
      </p:sp>
      <p:sp>
        <p:nvSpPr>
          <p:cNvPr id="4" name="Text 2"/>
          <p:cNvSpPr txBox="1"/>
          <p:nvPr/>
        </p:nvSpPr>
        <p:spPr>
          <a:xfrm>
            <a:off x="548640" y="1737360"/>
            <a:ext cx="6492240" cy="4206240"/>
          </a:xfrm>
          <a:prstGeom prst="rect">
            <a:avLst/>
          </a:prstGeom>
          <a:noFill/>
          <a:ln/>
        </p:spPr>
        <p:txBody>
          <a:bodyPr wrap="square" lIns="0" tIns="0" rIns="0" bIns="0" rtlCol="0" anchor="t"/>
          <a:lstStyle/>
          <a:p>
            <a:pPr marL="228600" indent="-228600">
              <a:lnSpc>
                <a:spcPct val="108000"/>
              </a:lnSpc>
              <a:spcAft>
                <a:spcPts val="1400"/>
              </a:spcAft>
              <a:buSzPct val="100000"/>
              <a:buChar char="●"/>
            </a:pPr>
            <a:r>
              <a:rPr lang="en-US" sz="1550" dirty="0">
                <a:solidFill>
                  <a:srgbClr val="222B36"/>
                </a:solidFill>
                <a:latin typeface="Calibri" pitchFamily="34" charset="0"/>
                <a:ea typeface="Calibri" pitchFamily="34" charset="-122"/>
                <a:cs typeface="Calibri" pitchFamily="34" charset="-120"/>
              </a:rPr>
              <a:t>A smart application that helps vehicle owners find, check and book available parking spaces quickly and conveniently</a:t>
            </a:r>
            <a:endParaRPr lang="en-US" sz="1550" dirty="0"/>
          </a:p>
          <a:p>
            <a:pPr marL="228600" indent="-228600">
              <a:lnSpc>
                <a:spcPct val="108000"/>
              </a:lnSpc>
              <a:spcAft>
                <a:spcPts val="1400"/>
              </a:spcAft>
              <a:buSzPct val="100000"/>
              <a:buChar char="●"/>
            </a:pPr>
            <a:r>
              <a:rPr lang="en-US" sz="1550" dirty="0">
                <a:solidFill>
                  <a:srgbClr val="222B36"/>
                </a:solidFill>
                <a:latin typeface="Calibri" pitchFamily="34" charset="0"/>
                <a:ea typeface="Calibri" pitchFamily="34" charset="-122"/>
                <a:cs typeface="Calibri" pitchFamily="34" charset="-120"/>
              </a:rPr>
              <a:t>Addresses the everyday difficulty of locating vacant parking in busy areas</a:t>
            </a:r>
            <a:endParaRPr lang="en-US" sz="1550" dirty="0"/>
          </a:p>
          <a:p>
            <a:pPr marL="228600" indent="-228600">
              <a:lnSpc>
                <a:spcPct val="108000"/>
              </a:lnSpc>
              <a:spcAft>
                <a:spcPts val="1400"/>
              </a:spcAft>
              <a:buSzPct val="100000"/>
              <a:buChar char="●"/>
            </a:pPr>
            <a:r>
              <a:rPr lang="en-US" sz="1550" dirty="0">
                <a:solidFill>
                  <a:srgbClr val="222B36"/>
                </a:solidFill>
                <a:latin typeface="Calibri" pitchFamily="34" charset="0"/>
                <a:ea typeface="Calibri" pitchFamily="34" charset="-122"/>
                <a:cs typeface="Calibri" pitchFamily="34" charset="-120"/>
              </a:rPr>
              <a:t>Users can search nearby parking, compare options and reserve a slot in advance instead of arriving uninformed</a:t>
            </a:r>
            <a:endParaRPr lang="en-US" sz="1550" dirty="0"/>
          </a:p>
          <a:p>
            <a:pPr marL="228600" indent="-228600">
              <a:lnSpc>
                <a:spcPct val="108000"/>
              </a:lnSpc>
              <a:spcAft>
                <a:spcPts val="1400"/>
              </a:spcAft>
              <a:buSzPct val="100000"/>
              <a:buChar char="●"/>
            </a:pPr>
            <a:r>
              <a:rPr lang="en-US" sz="1550" dirty="0">
                <a:solidFill>
                  <a:srgbClr val="222B36"/>
                </a:solidFill>
                <a:latin typeface="Calibri" pitchFamily="34" charset="0"/>
                <a:ea typeface="Calibri" pitchFamily="34" charset="-122"/>
                <a:cs typeface="Calibri" pitchFamily="34" charset="-120"/>
              </a:rPr>
              <a:t>Aimed at high-footfall locations: shopping malls, colleges, offices, hospitals and commercial areas</a:t>
            </a:r>
            <a:endParaRPr lang="en-US" sz="1550" dirty="0"/>
          </a:p>
          <a:p>
            <a:pPr marL="228600" indent="-228600">
              <a:lnSpc>
                <a:spcPct val="108000"/>
              </a:lnSpc>
              <a:spcAft>
                <a:spcPts val="1400"/>
              </a:spcAft>
              <a:buSzPct val="100000"/>
              <a:buChar char="●"/>
            </a:pPr>
            <a:r>
              <a:rPr lang="en-US" sz="1550" dirty="0">
                <a:solidFill>
                  <a:srgbClr val="222B36"/>
                </a:solidFill>
                <a:latin typeface="Calibri" pitchFamily="34" charset="0"/>
                <a:ea typeface="Calibri" pitchFamily="34" charset="-122"/>
                <a:cs typeface="Calibri" pitchFamily="34" charset="-120"/>
              </a:rPr>
              <a:t>Core purpose: make finding and reserving a parking space simple, reliable and stress-free</a:t>
            </a:r>
            <a:endParaRPr lang="en-US" sz="1550" dirty="0"/>
          </a:p>
        </p:txBody>
      </p:sp>
      <p:sp>
        <p:nvSpPr>
          <p:cNvPr id="5" name="Shape 3"/>
          <p:cNvSpPr/>
          <p:nvPr/>
        </p:nvSpPr>
        <p:spPr>
          <a:xfrm>
            <a:off x="7406640" y="1600200"/>
            <a:ext cx="4251960" cy="4572000"/>
          </a:xfrm>
          <a:prstGeom prst="roundRect">
            <a:avLst>
              <a:gd name="adj" fmla="val 2151"/>
            </a:avLst>
          </a:prstGeom>
          <a:solidFill>
            <a:srgbClr val="F4F7FA"/>
          </a:solidFill>
          <a:ln w="12700">
            <a:solidFill>
              <a:srgbClr val="D6E0E8"/>
            </a:solidFill>
            <a:prstDash val="solid"/>
          </a:ln>
        </p:spPr>
      </p:sp>
      <p:sp>
        <p:nvSpPr>
          <p:cNvPr id="6" name="Text 4"/>
          <p:cNvSpPr txBox="1"/>
          <p:nvPr/>
        </p:nvSpPr>
        <p:spPr>
          <a:xfrm>
            <a:off x="7726680" y="1874520"/>
            <a:ext cx="3611880" cy="274320"/>
          </a:xfrm>
          <a:prstGeom prst="rect">
            <a:avLst/>
          </a:prstGeom>
          <a:noFill/>
          <a:ln/>
        </p:spPr>
        <p:txBody>
          <a:bodyPr wrap="square" lIns="0" tIns="0" rIns="0" bIns="0" rtlCol="0" anchor="ctr"/>
          <a:lstStyle/>
          <a:p>
            <a:pPr marL="0" indent="0">
              <a:buNone/>
            </a:pPr>
            <a:r>
              <a:rPr lang="en-US" sz="1100" b="1" kern="0" spc="200" dirty="0">
                <a:solidFill>
                  <a:srgbClr val="2E86AB"/>
                </a:solidFill>
                <a:latin typeface="Calibri" pitchFamily="34" charset="0"/>
                <a:ea typeface="Calibri" pitchFamily="34" charset="-122"/>
                <a:cs typeface="Calibri" pitchFamily="34" charset="-120"/>
              </a:rPr>
              <a:t>WHERE IT'S NEEDED</a:t>
            </a:r>
            <a:endParaRPr lang="en-US" sz="1100" dirty="0"/>
          </a:p>
        </p:txBody>
      </p:sp>
      <p:sp>
        <p:nvSpPr>
          <p:cNvPr id="7" name="Shape 5"/>
          <p:cNvSpPr/>
          <p:nvPr/>
        </p:nvSpPr>
        <p:spPr>
          <a:xfrm>
            <a:off x="7726680" y="2377440"/>
            <a:ext cx="457200" cy="457200"/>
          </a:xfrm>
          <a:prstGeom prst="ellipse">
            <a:avLst/>
          </a:prstGeom>
          <a:solidFill>
            <a:srgbClr val="1E3A5F"/>
          </a:solidFill>
          <a:ln/>
        </p:spPr>
      </p:sp>
      <p:sp>
        <p:nvSpPr>
          <p:cNvPr id="8" name="Text 6"/>
          <p:cNvSpPr txBox="1"/>
          <p:nvPr/>
        </p:nvSpPr>
        <p:spPr>
          <a:xfrm>
            <a:off x="7726680" y="23774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9" name="Text 7"/>
          <p:cNvSpPr txBox="1"/>
          <p:nvPr/>
        </p:nvSpPr>
        <p:spPr>
          <a:xfrm>
            <a:off x="8366760" y="2432304"/>
            <a:ext cx="2971800" cy="365760"/>
          </a:xfrm>
          <a:prstGeom prst="rect">
            <a:avLst/>
          </a:prstGeom>
          <a:noFill/>
          <a:ln/>
        </p:spPr>
        <p:txBody>
          <a:bodyPr wrap="square" lIns="0" tIns="0" rIns="0" bIns="0" rtlCol="0" anchor="ctr"/>
          <a:lstStyle/>
          <a:p>
            <a:pPr marL="0" indent="0">
              <a:buNone/>
            </a:pPr>
            <a:r>
              <a:rPr lang="en-US" sz="1400" dirty="0">
                <a:solidFill>
                  <a:srgbClr val="222B36"/>
                </a:solidFill>
                <a:latin typeface="Calibri" pitchFamily="34" charset="0"/>
                <a:ea typeface="Calibri" pitchFamily="34" charset="-122"/>
                <a:cs typeface="Calibri" pitchFamily="34" charset="-120"/>
              </a:rPr>
              <a:t>Shopping Malls</a:t>
            </a:r>
            <a:endParaRPr lang="en-US" sz="1400" dirty="0"/>
          </a:p>
        </p:txBody>
      </p:sp>
      <p:sp>
        <p:nvSpPr>
          <p:cNvPr id="10" name="Shape 8"/>
          <p:cNvSpPr/>
          <p:nvPr/>
        </p:nvSpPr>
        <p:spPr>
          <a:xfrm>
            <a:off x="7726680" y="3090672"/>
            <a:ext cx="457200" cy="457200"/>
          </a:xfrm>
          <a:prstGeom prst="ellipse">
            <a:avLst/>
          </a:prstGeom>
          <a:solidFill>
            <a:srgbClr val="1E3A5F"/>
          </a:solidFill>
          <a:ln/>
        </p:spPr>
      </p:sp>
      <p:sp>
        <p:nvSpPr>
          <p:cNvPr id="11" name="Text 9"/>
          <p:cNvSpPr txBox="1"/>
          <p:nvPr/>
        </p:nvSpPr>
        <p:spPr>
          <a:xfrm>
            <a:off x="7726680" y="309067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2" name="Text 10"/>
          <p:cNvSpPr txBox="1"/>
          <p:nvPr/>
        </p:nvSpPr>
        <p:spPr>
          <a:xfrm>
            <a:off x="8366760" y="3145536"/>
            <a:ext cx="2971800" cy="365760"/>
          </a:xfrm>
          <a:prstGeom prst="rect">
            <a:avLst/>
          </a:prstGeom>
          <a:noFill/>
          <a:ln/>
        </p:spPr>
        <p:txBody>
          <a:bodyPr wrap="square" lIns="0" tIns="0" rIns="0" bIns="0" rtlCol="0" anchor="ctr"/>
          <a:lstStyle/>
          <a:p>
            <a:pPr marL="0" indent="0">
              <a:buNone/>
            </a:pPr>
            <a:r>
              <a:rPr lang="en-US" sz="1400" dirty="0">
                <a:solidFill>
                  <a:srgbClr val="222B36"/>
                </a:solidFill>
                <a:latin typeface="Calibri" pitchFamily="34" charset="0"/>
                <a:ea typeface="Calibri" pitchFamily="34" charset="-122"/>
                <a:cs typeface="Calibri" pitchFamily="34" charset="-120"/>
              </a:rPr>
              <a:t>Colleges</a:t>
            </a:r>
            <a:endParaRPr lang="en-US" sz="1400" dirty="0"/>
          </a:p>
        </p:txBody>
      </p:sp>
      <p:sp>
        <p:nvSpPr>
          <p:cNvPr id="13" name="Shape 11"/>
          <p:cNvSpPr/>
          <p:nvPr/>
        </p:nvSpPr>
        <p:spPr>
          <a:xfrm>
            <a:off x="7726680" y="3803904"/>
            <a:ext cx="457200" cy="457200"/>
          </a:xfrm>
          <a:prstGeom prst="ellipse">
            <a:avLst/>
          </a:prstGeom>
          <a:solidFill>
            <a:srgbClr val="1E3A5F"/>
          </a:solidFill>
          <a:ln/>
        </p:spPr>
      </p:sp>
      <p:sp>
        <p:nvSpPr>
          <p:cNvPr id="14" name="Text 12"/>
          <p:cNvSpPr txBox="1"/>
          <p:nvPr/>
        </p:nvSpPr>
        <p:spPr>
          <a:xfrm>
            <a:off x="7726680" y="380390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15" name="Text 13"/>
          <p:cNvSpPr txBox="1"/>
          <p:nvPr/>
        </p:nvSpPr>
        <p:spPr>
          <a:xfrm>
            <a:off x="8366760" y="3858768"/>
            <a:ext cx="2971800" cy="365760"/>
          </a:xfrm>
          <a:prstGeom prst="rect">
            <a:avLst/>
          </a:prstGeom>
          <a:noFill/>
          <a:ln/>
        </p:spPr>
        <p:txBody>
          <a:bodyPr wrap="square" lIns="0" tIns="0" rIns="0" bIns="0" rtlCol="0" anchor="ctr"/>
          <a:lstStyle/>
          <a:p>
            <a:pPr marL="0" indent="0">
              <a:buNone/>
            </a:pPr>
            <a:r>
              <a:rPr lang="en-US" sz="1400" dirty="0">
                <a:solidFill>
                  <a:srgbClr val="222B36"/>
                </a:solidFill>
                <a:latin typeface="Calibri" pitchFamily="34" charset="0"/>
                <a:ea typeface="Calibri" pitchFamily="34" charset="-122"/>
                <a:cs typeface="Calibri" pitchFamily="34" charset="-120"/>
              </a:rPr>
              <a:t>Offices</a:t>
            </a:r>
            <a:endParaRPr lang="en-US" sz="1400" dirty="0"/>
          </a:p>
        </p:txBody>
      </p:sp>
      <p:sp>
        <p:nvSpPr>
          <p:cNvPr id="16" name="Shape 14"/>
          <p:cNvSpPr/>
          <p:nvPr/>
        </p:nvSpPr>
        <p:spPr>
          <a:xfrm>
            <a:off x="7726680" y="4517136"/>
            <a:ext cx="457200" cy="457200"/>
          </a:xfrm>
          <a:prstGeom prst="ellipse">
            <a:avLst/>
          </a:prstGeom>
          <a:solidFill>
            <a:srgbClr val="1E3A5F"/>
          </a:solidFill>
          <a:ln/>
        </p:spPr>
      </p:sp>
      <p:sp>
        <p:nvSpPr>
          <p:cNvPr id="17" name="Text 15"/>
          <p:cNvSpPr txBox="1"/>
          <p:nvPr/>
        </p:nvSpPr>
        <p:spPr>
          <a:xfrm>
            <a:off x="7726680" y="451713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t>
            </a:r>
            <a:endParaRPr lang="en-US" sz="1300" dirty="0"/>
          </a:p>
        </p:txBody>
      </p:sp>
      <p:sp>
        <p:nvSpPr>
          <p:cNvPr id="18" name="Text 16"/>
          <p:cNvSpPr txBox="1"/>
          <p:nvPr/>
        </p:nvSpPr>
        <p:spPr>
          <a:xfrm>
            <a:off x="8366760" y="4572000"/>
            <a:ext cx="2971800" cy="365760"/>
          </a:xfrm>
          <a:prstGeom prst="rect">
            <a:avLst/>
          </a:prstGeom>
          <a:noFill/>
          <a:ln/>
        </p:spPr>
        <p:txBody>
          <a:bodyPr wrap="square" lIns="0" tIns="0" rIns="0" bIns="0" rtlCol="0" anchor="ctr"/>
          <a:lstStyle/>
          <a:p>
            <a:pPr marL="0" indent="0">
              <a:buNone/>
            </a:pPr>
            <a:r>
              <a:rPr lang="en-US" sz="1400" dirty="0">
                <a:solidFill>
                  <a:srgbClr val="222B36"/>
                </a:solidFill>
                <a:latin typeface="Calibri" pitchFamily="34" charset="0"/>
                <a:ea typeface="Calibri" pitchFamily="34" charset="-122"/>
                <a:cs typeface="Calibri" pitchFamily="34" charset="-120"/>
              </a:rPr>
              <a:t>Hospitals</a:t>
            </a:r>
            <a:endParaRPr lang="en-US" sz="1400" dirty="0"/>
          </a:p>
        </p:txBody>
      </p:sp>
      <p:sp>
        <p:nvSpPr>
          <p:cNvPr id="19" name="Shape 17"/>
          <p:cNvSpPr/>
          <p:nvPr/>
        </p:nvSpPr>
        <p:spPr>
          <a:xfrm>
            <a:off x="7726680" y="5230368"/>
            <a:ext cx="457200" cy="457200"/>
          </a:xfrm>
          <a:prstGeom prst="ellipse">
            <a:avLst/>
          </a:prstGeom>
          <a:solidFill>
            <a:srgbClr val="1E3A5F"/>
          </a:solidFill>
          <a:ln/>
        </p:spPr>
      </p:sp>
      <p:sp>
        <p:nvSpPr>
          <p:cNvPr id="20" name="Text 18"/>
          <p:cNvSpPr txBox="1"/>
          <p:nvPr/>
        </p:nvSpPr>
        <p:spPr>
          <a:xfrm>
            <a:off x="7726680" y="523036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1" name="Text 19"/>
          <p:cNvSpPr txBox="1"/>
          <p:nvPr/>
        </p:nvSpPr>
        <p:spPr>
          <a:xfrm>
            <a:off x="8366760" y="5285232"/>
            <a:ext cx="2971800" cy="365760"/>
          </a:xfrm>
          <a:prstGeom prst="rect">
            <a:avLst/>
          </a:prstGeom>
          <a:noFill/>
          <a:ln/>
        </p:spPr>
        <p:txBody>
          <a:bodyPr wrap="square" lIns="0" tIns="0" rIns="0" bIns="0" rtlCol="0" anchor="ctr"/>
          <a:lstStyle/>
          <a:p>
            <a:pPr marL="0" indent="0">
              <a:buNone/>
            </a:pPr>
            <a:r>
              <a:rPr lang="en-US" sz="1400" dirty="0">
                <a:solidFill>
                  <a:srgbClr val="222B36"/>
                </a:solidFill>
                <a:latin typeface="Calibri" pitchFamily="34" charset="0"/>
                <a:ea typeface="Calibri" pitchFamily="34" charset="-122"/>
                <a:cs typeface="Calibri" pitchFamily="34" charset="-120"/>
              </a:rPr>
              <a:t>Commercial Areas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113ED3-8874-3A80-E7E3-855EF007F9B6}"/>
              </a:ext>
            </a:extLst>
          </p:cNvPr>
          <p:cNvSpPr txBox="1"/>
          <p:nvPr/>
        </p:nvSpPr>
        <p:spPr>
          <a:xfrm>
            <a:off x="459288" y="-99164"/>
            <a:ext cx="10866328" cy="5047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000" b="1" dirty="0">
              <a:solidFill>
                <a:srgbClr val="1E3A5F"/>
              </a:solidFill>
              <a:latin typeface="Cambria"/>
            </a:endParaRPr>
          </a:p>
          <a:p>
            <a:endParaRPr lang="en-US" sz="1200" dirty="0">
              <a:solidFill>
                <a:srgbClr val="000000"/>
              </a:solidFill>
              <a:latin typeface="Calibri"/>
              <a:ea typeface="Calibri"/>
              <a:cs typeface="Calibri"/>
            </a:endParaRPr>
          </a:p>
          <a:p>
            <a:r>
              <a:rPr lang="en-US" sz="1200" b="1">
                <a:solidFill>
                  <a:srgbClr val="2E86AB"/>
                </a:solidFill>
                <a:latin typeface="Calibri"/>
                <a:ea typeface="Calibri"/>
                <a:cs typeface="Calibri"/>
              </a:rPr>
              <a:t> PROJECT ABSTRACT</a:t>
            </a:r>
            <a:endParaRPr lang="en-US" sz="1200">
              <a:solidFill>
                <a:srgbClr val="000000"/>
              </a:solidFill>
              <a:latin typeface="Calibri"/>
              <a:ea typeface="Calibri"/>
              <a:cs typeface="Calibri"/>
            </a:endParaRPr>
          </a:p>
          <a:p>
            <a:r>
              <a:rPr lang="en-US" sz="3000" b="1">
                <a:solidFill>
                  <a:srgbClr val="1E3A5F"/>
                </a:solidFill>
                <a:latin typeface="Cambria"/>
              </a:rPr>
              <a:t>Abstract</a:t>
            </a:r>
            <a:endParaRPr lang="en-US" sz="3000" b="1">
              <a:solidFill>
                <a:srgbClr val="1E3A5F"/>
              </a:solidFill>
              <a:latin typeface="Cambria"/>
              <a:ea typeface="Cambria"/>
              <a:cs typeface="Calibri"/>
            </a:endParaRPr>
          </a:p>
          <a:p>
            <a:endParaRPr lang="en-US" sz="2000" dirty="0">
              <a:solidFill>
                <a:srgbClr val="000000"/>
              </a:solidFill>
              <a:latin typeface="Cambria"/>
              <a:ea typeface="Cambria"/>
              <a:cs typeface="+mn-lt"/>
            </a:endParaRPr>
          </a:p>
          <a:p>
            <a:r>
              <a:rPr lang="en-US" sz="2000">
                <a:solidFill>
                  <a:srgbClr val="000000"/>
                </a:solidFill>
                <a:latin typeface="Cambria"/>
                <a:ea typeface="Cambria"/>
                <a:cs typeface="+mn-lt"/>
              </a:rPr>
              <a:t>T</a:t>
            </a:r>
            <a:r>
              <a:rPr lang="en-US" sz="2000">
                <a:solidFill>
                  <a:srgbClr val="000000"/>
                </a:solidFill>
                <a:ea typeface="+mn-lt"/>
                <a:cs typeface="+mn-lt"/>
              </a:rPr>
              <a:t>he Vehicle Parking Finder &amp; Booking App is a smart parking management system designed to help </a:t>
            </a:r>
            <a:r>
              <a:rPr lang="en-US" sz="2000" dirty="0">
                <a:solidFill>
                  <a:srgbClr val="000000"/>
                </a:solidFill>
                <a:ea typeface="+mn-lt"/>
                <a:cs typeface="+mn-lt"/>
              </a:rPr>
              <a:t>vehicle owners find, check, and book available parking spaces quickly and conveniently. It addresses the difficulty of finding parking in busy locations such as shopping malls, colleges, offices, hospitals, and commercial areas. Users can search for nearby parking areas, view availability, location, pricing, capacity, and operating hours, select a suitable parking slot, choose a duration, and book the slot in advance. The system updates parking availability whenever a slot is reserved or released. Parking administrators can add and manage parking locations, monitor available and occupied slots, update parking charges, and manage bookings. A structured database stores user information, parking locations, slot details, and booking records. The application can also provide booking confirmation and maintain reservation history.</a:t>
            </a:r>
            <a:endParaRPr lang="en-US" sz="2000">
              <a:ea typeface="Calibri"/>
              <a:cs typeface="Calibri"/>
            </a:endParaRPr>
          </a:p>
          <a:p>
            <a:pPr algn="ctr"/>
            <a:endParaRPr lang="en-US"/>
          </a:p>
        </p:txBody>
      </p:sp>
    </p:spTree>
    <p:extLst>
      <p:ext uri="{BB962C8B-B14F-4D97-AF65-F5344CB8AC3E}">
        <p14:creationId xmlns:p14="http://schemas.microsoft.com/office/powerpoint/2010/main" val="3972519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marL="0" indent="0">
              <a:buNone/>
            </a:pPr>
            <a:r>
              <a:rPr lang="en-US" sz="1200" b="1" kern="0" spc="200" dirty="0">
                <a:solidFill>
                  <a:srgbClr val="2E86AB"/>
                </a:solidFill>
                <a:latin typeface="Calibri" pitchFamily="34" charset="0"/>
                <a:ea typeface="Calibri" pitchFamily="34" charset="-122"/>
                <a:cs typeface="Calibri" pitchFamily="34" charset="-120"/>
              </a:rPr>
              <a:t>THE CHALLENGE</a:t>
            </a:r>
            <a:endParaRPr lang="en-US" sz="1200" dirty="0"/>
          </a:p>
        </p:txBody>
      </p:sp>
      <p:sp>
        <p:nvSpPr>
          <p:cNvPr id="3" name="Text 1"/>
          <p:cNvSpPr txBox="1"/>
          <p:nvPr/>
        </p:nvSpPr>
        <p:spPr>
          <a:xfrm>
            <a:off x="548640" y="704088"/>
            <a:ext cx="10515600" cy="548640"/>
          </a:xfrm>
          <a:prstGeom prst="rect">
            <a:avLst/>
          </a:prstGeom>
          <a:noFill/>
          <a:ln/>
        </p:spPr>
        <p:txBody>
          <a:bodyPr wrap="square" lIns="0" tIns="0" rIns="0" bIns="0" rtlCol="0" anchor="ctr"/>
          <a:lstStyle/>
          <a:p>
            <a:pPr marL="0" indent="0">
              <a:buNone/>
            </a:pPr>
            <a:r>
              <a:rPr lang="en-US" sz="3000" b="1" dirty="0">
                <a:solidFill>
                  <a:srgbClr val="1E3A5F"/>
                </a:solidFill>
                <a:latin typeface="Cambria" pitchFamily="34" charset="0"/>
                <a:ea typeface="Cambria" pitchFamily="34" charset="-122"/>
                <a:cs typeface="Cambria" pitchFamily="34" charset="-120"/>
              </a:rPr>
              <a:t>Problem Statement</a:t>
            </a:r>
            <a:endParaRPr lang="en-US" sz="3000" dirty="0"/>
          </a:p>
        </p:txBody>
      </p:sp>
      <p:sp>
        <p:nvSpPr>
          <p:cNvPr id="4" name="Text 2"/>
          <p:cNvSpPr txBox="1"/>
          <p:nvPr/>
        </p:nvSpPr>
        <p:spPr>
          <a:xfrm>
            <a:off x="548640" y="1737360"/>
            <a:ext cx="6675120" cy="3931920"/>
          </a:xfrm>
          <a:prstGeom prst="rect">
            <a:avLst/>
          </a:prstGeom>
          <a:noFill/>
          <a:ln/>
        </p:spPr>
        <p:txBody>
          <a:bodyPr wrap="square" lIns="0" tIns="0" rIns="0" bIns="0" rtlCol="0" anchor="t"/>
          <a:lstStyle/>
          <a:p>
            <a:pPr marL="228600" indent="-228600">
              <a:lnSpc>
                <a:spcPct val="108000"/>
              </a:lnSpc>
              <a:spcAft>
                <a:spcPts val="1100"/>
              </a:spcAft>
              <a:buSzPct val="100000"/>
              <a:buChar char="●"/>
            </a:pPr>
            <a:r>
              <a:rPr lang="en-US" sz="1450" dirty="0">
                <a:solidFill>
                  <a:srgbClr val="222B36"/>
                </a:solidFill>
                <a:latin typeface="Calibri" pitchFamily="34" charset="0"/>
                <a:ea typeface="Calibri" pitchFamily="34" charset="-122"/>
                <a:cs typeface="Calibri" pitchFamily="34" charset="-120"/>
              </a:rPr>
              <a:t>Finding a vacant parking space in busy areas is time-consuming</a:t>
            </a:r>
            <a:endParaRPr lang="en-US" sz="1450" dirty="0"/>
          </a:p>
          <a:p>
            <a:pPr marL="228600" indent="-228600">
              <a:lnSpc>
                <a:spcPct val="108000"/>
              </a:lnSpc>
              <a:spcAft>
                <a:spcPts val="1100"/>
              </a:spcAft>
              <a:buSzPct val="100000"/>
              <a:buChar char="●"/>
            </a:pPr>
            <a:r>
              <a:rPr lang="en-US" sz="1450" dirty="0">
                <a:solidFill>
                  <a:srgbClr val="222B36"/>
                </a:solidFill>
                <a:latin typeface="Calibri" pitchFamily="34" charset="0"/>
                <a:ea typeface="Calibri" pitchFamily="34" charset="-122"/>
                <a:cs typeface="Calibri" pitchFamily="34" charset="-120"/>
              </a:rPr>
              <a:t>Users often have to drive around searching for available spaces</a:t>
            </a:r>
            <a:endParaRPr lang="en-US" sz="1450" dirty="0"/>
          </a:p>
          <a:p>
            <a:pPr marL="228600" indent="-228600">
              <a:lnSpc>
                <a:spcPct val="108000"/>
              </a:lnSpc>
              <a:spcAft>
                <a:spcPts val="1100"/>
              </a:spcAft>
              <a:buSzPct val="100000"/>
              <a:buChar char="●"/>
            </a:pPr>
            <a:r>
              <a:rPr lang="en-US" sz="1450" dirty="0">
                <a:solidFill>
                  <a:srgbClr val="222B36"/>
                </a:solidFill>
                <a:latin typeface="Calibri" pitchFamily="34" charset="0"/>
                <a:ea typeface="Calibri" pitchFamily="34" charset="-122"/>
                <a:cs typeface="Calibri" pitchFamily="34" charset="-120"/>
              </a:rPr>
              <a:t>This causes unnecessary delays for people trying to reach their destination</a:t>
            </a:r>
            <a:endParaRPr lang="en-US" sz="1450" dirty="0"/>
          </a:p>
          <a:p>
            <a:pPr marL="228600" indent="-228600">
              <a:lnSpc>
                <a:spcPct val="108000"/>
              </a:lnSpc>
              <a:spcAft>
                <a:spcPts val="1100"/>
              </a:spcAft>
              <a:buSzPct val="100000"/>
              <a:buChar char="●"/>
            </a:pPr>
            <a:r>
              <a:rPr lang="en-US" sz="1450" dirty="0">
                <a:solidFill>
                  <a:srgbClr val="222B36"/>
                </a:solidFill>
                <a:latin typeface="Calibri" pitchFamily="34" charset="0"/>
                <a:ea typeface="Calibri" pitchFamily="34" charset="-122"/>
                <a:cs typeface="Calibri" pitchFamily="34" charset="-120"/>
              </a:rPr>
              <a:t>Repeated searching for parking adds to local traffic congestion</a:t>
            </a:r>
            <a:endParaRPr lang="en-US" sz="1450" dirty="0"/>
          </a:p>
          <a:p>
            <a:pPr marL="228600" indent="-228600">
              <a:lnSpc>
                <a:spcPct val="108000"/>
              </a:lnSpc>
              <a:spcAft>
                <a:spcPts val="1100"/>
              </a:spcAft>
              <a:buSzPct val="100000"/>
              <a:buChar char="●"/>
            </a:pPr>
            <a:r>
              <a:rPr lang="en-US" sz="1450" dirty="0">
                <a:solidFill>
                  <a:srgbClr val="222B36"/>
                </a:solidFill>
                <a:latin typeface="Calibri" pitchFamily="34" charset="0"/>
                <a:ea typeface="Calibri" pitchFamily="34" charset="-122"/>
                <a:cs typeface="Calibri" pitchFamily="34" charset="-120"/>
              </a:rPr>
              <a:t>It also results in avoidable fuel wastage</a:t>
            </a:r>
            <a:endParaRPr lang="en-US" sz="1450" dirty="0"/>
          </a:p>
          <a:p>
            <a:pPr marL="228600" indent="-228600">
              <a:lnSpc>
                <a:spcPct val="108000"/>
              </a:lnSpc>
              <a:spcAft>
                <a:spcPts val="1100"/>
              </a:spcAft>
              <a:buSzPct val="100000"/>
              <a:buChar char="●"/>
            </a:pPr>
            <a:r>
              <a:rPr lang="en-US" sz="1450" dirty="0">
                <a:solidFill>
                  <a:srgbClr val="222B36"/>
                </a:solidFill>
                <a:latin typeface="Calibri" pitchFamily="34" charset="0"/>
                <a:ea typeface="Calibri" pitchFamily="34" charset="-122"/>
                <a:cs typeface="Calibri" pitchFamily="34" charset="-120"/>
              </a:rPr>
              <a:t>Users rarely know availability, pricing or operating hours before arriving at a location</a:t>
            </a:r>
            <a:endParaRPr lang="en-US" sz="1450" dirty="0"/>
          </a:p>
          <a:p>
            <a:pPr marL="228600" indent="-228600">
              <a:lnSpc>
                <a:spcPct val="108000"/>
              </a:lnSpc>
              <a:spcAft>
                <a:spcPts val="1100"/>
              </a:spcAft>
              <a:buSzPct val="100000"/>
              <a:buChar char="●"/>
            </a:pPr>
            <a:r>
              <a:rPr lang="en-US" sz="1450" dirty="0">
                <a:solidFill>
                  <a:srgbClr val="222B36"/>
                </a:solidFill>
                <a:latin typeface="Calibri" pitchFamily="34" charset="0"/>
                <a:ea typeface="Calibri" pitchFamily="34" charset="-122"/>
                <a:cs typeface="Calibri" pitchFamily="34" charset="-120"/>
              </a:rPr>
              <a:t>There is a clear need for a centralized system to check and reserve parking in advance</a:t>
            </a:r>
            <a:endParaRPr lang="en-US" sz="1450" dirty="0"/>
          </a:p>
        </p:txBody>
      </p:sp>
      <p:sp>
        <p:nvSpPr>
          <p:cNvPr id="5" name="Shape 3"/>
          <p:cNvSpPr/>
          <p:nvPr/>
        </p:nvSpPr>
        <p:spPr>
          <a:xfrm>
            <a:off x="7452360" y="1737360"/>
            <a:ext cx="4206240" cy="3931920"/>
          </a:xfrm>
          <a:prstGeom prst="roundRect">
            <a:avLst>
              <a:gd name="adj" fmla="val 2326"/>
            </a:avLst>
          </a:prstGeom>
          <a:solidFill>
            <a:srgbClr val="1E3A5F"/>
          </a:solidFill>
          <a:ln/>
        </p:spPr>
      </p:sp>
      <p:sp>
        <p:nvSpPr>
          <p:cNvPr id="6" name="Shape 4"/>
          <p:cNvSpPr/>
          <p:nvPr/>
        </p:nvSpPr>
        <p:spPr>
          <a:xfrm>
            <a:off x="7818120" y="2103120"/>
            <a:ext cx="502920" cy="502920"/>
          </a:xfrm>
          <a:prstGeom prst="ellipse">
            <a:avLst/>
          </a:prstGeom>
          <a:solidFill>
            <a:srgbClr val="2E86AB"/>
          </a:solidFill>
          <a:ln/>
        </p:spPr>
      </p:sp>
      <p:sp>
        <p:nvSpPr>
          <p:cNvPr id="7" name="Text 5"/>
          <p:cNvSpPr txBox="1"/>
          <p:nvPr/>
        </p:nvSpPr>
        <p:spPr>
          <a:xfrm>
            <a:off x="7818120" y="210312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8" name="Text 6"/>
          <p:cNvSpPr txBox="1"/>
          <p:nvPr/>
        </p:nvSpPr>
        <p:spPr>
          <a:xfrm>
            <a:off x="7818120" y="2834640"/>
            <a:ext cx="3474720" cy="2468880"/>
          </a:xfrm>
          <a:prstGeom prst="rect">
            <a:avLst/>
          </a:prstGeom>
          <a:noFill/>
          <a:ln/>
        </p:spPr>
        <p:txBody>
          <a:bodyPr wrap="square" lIns="0" tIns="0" rIns="0" bIns="0" rtlCol="0" anchor="t"/>
          <a:lstStyle/>
          <a:p>
            <a:pPr marL="0" indent="0">
              <a:lnSpc>
                <a:spcPct val="125000"/>
              </a:lnSpc>
              <a:buNone/>
            </a:pPr>
            <a:r>
              <a:rPr lang="en-US" sz="1650" i="1" dirty="0">
                <a:solidFill>
                  <a:srgbClr val="FFFFFF"/>
                </a:solidFill>
                <a:latin typeface="Cambria" pitchFamily="34" charset="0"/>
                <a:ea typeface="Cambria" pitchFamily="34" charset="-122"/>
                <a:cs typeface="Cambria" pitchFamily="34" charset="-120"/>
              </a:rPr>
              <a:t>The proposed system aims to reduce the uncertainty and time involved in finding parking by providing a centralized parking discovery and booking platform.</a:t>
            </a:r>
            <a:endParaRPr lang="en-US" sz="1650" dirty="0"/>
          </a:p>
        </p:txBody>
      </p:sp>
      <p:sp>
        <p:nvSpPr>
          <p:cNvPr id="9" name="Shape 7"/>
          <p:cNvSpPr/>
          <p:nvPr/>
        </p:nvSpPr>
        <p:spPr>
          <a:xfrm>
            <a:off x="548640" y="5806440"/>
            <a:ext cx="11109960" cy="566928"/>
          </a:xfrm>
          <a:prstGeom prst="roundRect">
            <a:avLst>
              <a:gd name="adj" fmla="val 12903"/>
            </a:avLst>
          </a:prstGeom>
          <a:solidFill>
            <a:srgbClr val="F4F7FA"/>
          </a:solidFill>
          <a:ln w="12700">
            <a:solidFill>
              <a:srgbClr val="D6E0E8"/>
            </a:solidFill>
            <a:prstDash val="solid"/>
          </a:ln>
        </p:spPr>
      </p:sp>
      <p:sp>
        <p:nvSpPr>
          <p:cNvPr id="10" name="Text 8"/>
          <p:cNvSpPr txBox="1"/>
          <p:nvPr/>
        </p:nvSpPr>
        <p:spPr>
          <a:xfrm>
            <a:off x="822960" y="5806440"/>
            <a:ext cx="10561320" cy="566928"/>
          </a:xfrm>
          <a:prstGeom prst="rect">
            <a:avLst/>
          </a:prstGeom>
          <a:noFill/>
          <a:ln/>
        </p:spPr>
        <p:txBody>
          <a:bodyPr wrap="square" lIns="0" tIns="0" rIns="0" bIns="0" rtlCol="0" anchor="ctr"/>
          <a:lstStyle/>
          <a:p>
            <a:pPr marL="0" indent="0">
              <a:buNone/>
            </a:pPr>
            <a:r>
              <a:rPr lang="en-US" sz="1250" dirty="0">
                <a:solidFill>
                  <a:srgbClr val="5B6B7A"/>
                </a:solidFill>
                <a:latin typeface="Calibri" pitchFamily="34" charset="0"/>
                <a:ea typeface="Calibri" pitchFamily="34" charset="-122"/>
                <a:cs typeface="Calibri" pitchFamily="34" charset="-120"/>
              </a:rPr>
              <a:t>Delayed arrival  ·  Traffic congestion  ·  Fuel wastage  ·  Uncertainty  ·  No advance booking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marL="0" indent="0">
              <a:buNone/>
            </a:pPr>
            <a:r>
              <a:rPr lang="en-US" sz="1200" b="1" kern="0" spc="200" dirty="0">
                <a:solidFill>
                  <a:srgbClr val="2E86AB"/>
                </a:solidFill>
                <a:latin typeface="Calibri" pitchFamily="34" charset="0"/>
                <a:ea typeface="Calibri" pitchFamily="34" charset="-122"/>
                <a:cs typeface="Calibri" pitchFamily="34" charset="-120"/>
              </a:rPr>
              <a:t>COMPARISON</a:t>
            </a:r>
            <a:endParaRPr lang="en-US" sz="1200" dirty="0"/>
          </a:p>
        </p:txBody>
      </p:sp>
      <p:sp>
        <p:nvSpPr>
          <p:cNvPr id="3" name="Text 1"/>
          <p:cNvSpPr txBox="1"/>
          <p:nvPr/>
        </p:nvSpPr>
        <p:spPr>
          <a:xfrm>
            <a:off x="548640" y="704088"/>
            <a:ext cx="10515600" cy="548640"/>
          </a:xfrm>
          <a:prstGeom prst="rect">
            <a:avLst/>
          </a:prstGeom>
          <a:noFill/>
          <a:ln/>
        </p:spPr>
        <p:txBody>
          <a:bodyPr wrap="square" lIns="0" tIns="0" rIns="0" bIns="0" rtlCol="0" anchor="ctr"/>
          <a:lstStyle/>
          <a:p>
            <a:pPr marL="0" indent="0">
              <a:buNone/>
            </a:pPr>
            <a:r>
              <a:rPr lang="en-US" sz="3000" b="1" dirty="0">
                <a:solidFill>
                  <a:srgbClr val="1E3A5F"/>
                </a:solidFill>
                <a:latin typeface="Cambria" pitchFamily="34" charset="0"/>
                <a:ea typeface="Cambria" pitchFamily="34" charset="-122"/>
                <a:cs typeface="Cambria" pitchFamily="34" charset="-120"/>
              </a:rPr>
              <a:t>Existing System vs Proposed System</a:t>
            </a:r>
            <a:endParaRPr lang="en-US" sz="3000" dirty="0"/>
          </a:p>
        </p:txBody>
      </p:sp>
      <p:sp>
        <p:nvSpPr>
          <p:cNvPr id="4" name="Shape 2"/>
          <p:cNvSpPr/>
          <p:nvPr/>
        </p:nvSpPr>
        <p:spPr>
          <a:xfrm>
            <a:off x="548640" y="1737360"/>
            <a:ext cx="5440680" cy="566928"/>
          </a:xfrm>
          <a:prstGeom prst="roundRect">
            <a:avLst>
              <a:gd name="adj" fmla="val 9677"/>
            </a:avLst>
          </a:prstGeom>
          <a:solidFill>
            <a:srgbClr val="8C99A6"/>
          </a:solidFill>
          <a:ln/>
        </p:spPr>
      </p:sp>
      <p:sp>
        <p:nvSpPr>
          <p:cNvPr id="5" name="Text 3"/>
          <p:cNvSpPr txBox="1"/>
          <p:nvPr/>
        </p:nvSpPr>
        <p:spPr>
          <a:xfrm>
            <a:off x="548640" y="1737360"/>
            <a:ext cx="5440680" cy="566928"/>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EXISTING SYSTEM</a:t>
            </a:r>
            <a:endParaRPr lang="en-US" sz="1400" dirty="0"/>
          </a:p>
        </p:txBody>
      </p:sp>
      <p:sp>
        <p:nvSpPr>
          <p:cNvPr id="6" name="Shape 4"/>
          <p:cNvSpPr/>
          <p:nvPr/>
        </p:nvSpPr>
        <p:spPr>
          <a:xfrm>
            <a:off x="6217920" y="1737360"/>
            <a:ext cx="5440680" cy="566928"/>
          </a:xfrm>
          <a:prstGeom prst="roundRect">
            <a:avLst>
              <a:gd name="adj" fmla="val 9677"/>
            </a:avLst>
          </a:prstGeom>
          <a:solidFill>
            <a:srgbClr val="2E86AB"/>
          </a:solidFill>
          <a:ln/>
        </p:spPr>
      </p:sp>
      <p:sp>
        <p:nvSpPr>
          <p:cNvPr id="7" name="Text 5"/>
          <p:cNvSpPr txBox="1"/>
          <p:nvPr/>
        </p:nvSpPr>
        <p:spPr>
          <a:xfrm>
            <a:off x="6217920" y="1737360"/>
            <a:ext cx="5440680" cy="566928"/>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PROPOSED SYSTEM</a:t>
            </a:r>
            <a:endParaRPr lang="en-US" sz="1400" dirty="0"/>
          </a:p>
        </p:txBody>
      </p:sp>
      <p:sp>
        <p:nvSpPr>
          <p:cNvPr id="8" name="Shape 6"/>
          <p:cNvSpPr/>
          <p:nvPr/>
        </p:nvSpPr>
        <p:spPr>
          <a:xfrm>
            <a:off x="548640" y="2414016"/>
            <a:ext cx="5440680" cy="4160520"/>
          </a:xfrm>
          <a:prstGeom prst="roundRect">
            <a:avLst>
              <a:gd name="adj" fmla="val 1319"/>
            </a:avLst>
          </a:prstGeom>
          <a:solidFill>
            <a:srgbClr val="F4F7FA"/>
          </a:solidFill>
          <a:ln w="12700">
            <a:solidFill>
              <a:srgbClr val="D6E0E8"/>
            </a:solidFill>
            <a:prstDash val="solid"/>
          </a:ln>
        </p:spPr>
      </p:sp>
      <p:sp>
        <p:nvSpPr>
          <p:cNvPr id="9" name="Shape 7"/>
          <p:cNvSpPr/>
          <p:nvPr/>
        </p:nvSpPr>
        <p:spPr>
          <a:xfrm>
            <a:off x="6217920" y="2414016"/>
            <a:ext cx="5440680" cy="4160520"/>
          </a:xfrm>
          <a:prstGeom prst="roundRect">
            <a:avLst>
              <a:gd name="adj" fmla="val 1319"/>
            </a:avLst>
          </a:prstGeom>
          <a:solidFill>
            <a:srgbClr val="EAF4F1"/>
          </a:solidFill>
          <a:ln w="12700">
            <a:solidFill>
              <a:srgbClr val="BEE0D8"/>
            </a:solidFill>
            <a:prstDash val="solid"/>
          </a:ln>
        </p:spPr>
      </p:sp>
      <p:sp>
        <p:nvSpPr>
          <p:cNvPr id="10" name="Text 8"/>
          <p:cNvSpPr txBox="1"/>
          <p:nvPr/>
        </p:nvSpPr>
        <p:spPr>
          <a:xfrm>
            <a:off x="822960" y="2615184"/>
            <a:ext cx="4892040" cy="3794760"/>
          </a:xfrm>
          <a:prstGeom prst="rect">
            <a:avLst/>
          </a:prstGeom>
          <a:noFill/>
          <a:ln/>
        </p:spPr>
        <p:txBody>
          <a:bodyPr wrap="square" lIns="0" tIns="0" rIns="0" bIns="0" rtlCol="0" anchor="t"/>
          <a:lstStyle/>
          <a:p>
            <a:pPr>
              <a:buSzPct val="100000"/>
              <a:buFont typeface="Arial"/>
              <a:buChar char="•"/>
            </a:pPr>
            <a:r>
              <a:rPr lang="en-US" sz="1250">
                <a:solidFill>
                  <a:srgbClr val="222B36"/>
                </a:solidFill>
                <a:ea typeface="+mn-lt"/>
                <a:cs typeface="+mn-lt"/>
              </a:rPr>
              <a:t>Apps such as </a:t>
            </a:r>
            <a:r>
              <a:rPr lang="en-US" sz="1250" b="1">
                <a:solidFill>
                  <a:srgbClr val="222B36"/>
                </a:solidFill>
                <a:ea typeface="+mn-lt"/>
                <a:cs typeface="+mn-lt"/>
              </a:rPr>
              <a:t>Park+</a:t>
            </a:r>
            <a:r>
              <a:rPr lang="en-US" sz="1250">
                <a:solidFill>
                  <a:srgbClr val="222B36"/>
                </a:solidFill>
                <a:ea typeface="+mn-lt"/>
                <a:cs typeface="+mn-lt"/>
              </a:rPr>
              <a:t> allow users to search for parking and book a parking space in advance. </a:t>
            </a:r>
            <a:endParaRPr lang="en-US" sz="1250" dirty="0">
              <a:solidFill>
                <a:srgbClr val="222B36"/>
              </a:solidFill>
              <a:ea typeface="Calibri"/>
              <a:cs typeface="Calibri"/>
            </a:endParaRPr>
          </a:p>
          <a:p>
            <a:pPr>
              <a:buFont typeface="Arial"/>
              <a:buChar char="•"/>
            </a:pPr>
            <a:r>
              <a:rPr lang="en-US" sz="1250">
                <a:solidFill>
                  <a:srgbClr val="222B36"/>
                </a:solidFill>
                <a:ea typeface="+mn-lt"/>
                <a:cs typeface="+mn-lt"/>
              </a:rPr>
              <a:t>They provide parking discovery based on location and allow users to select booking time/date. </a:t>
            </a:r>
            <a:endParaRPr lang="en-US"/>
          </a:p>
          <a:p>
            <a:pPr>
              <a:buFont typeface="Arial"/>
              <a:buChar char="•"/>
            </a:pPr>
            <a:r>
              <a:rPr lang="en-US" sz="1250">
                <a:solidFill>
                  <a:srgbClr val="222B36"/>
                </a:solidFill>
                <a:ea typeface="+mn-lt"/>
                <a:cs typeface="+mn-lt"/>
              </a:rPr>
              <a:t>However, parking availability and pricing can depend heavily on the coverage and accuracy of the parking inventory. </a:t>
            </a:r>
            <a:endParaRPr lang="en-US"/>
          </a:p>
          <a:p>
            <a:pPr>
              <a:buFont typeface="Arial"/>
              <a:buChar char="•"/>
            </a:pPr>
            <a:r>
              <a:rPr lang="en-US" sz="1250">
                <a:solidFill>
                  <a:srgbClr val="222B36"/>
                </a:solidFill>
                <a:ea typeface="+mn-lt"/>
                <a:cs typeface="+mn-lt"/>
              </a:rPr>
              <a:t>Some third-party reviews report inconsistencies in availability/pricing information and note that bookable parking coverage is concentrated in certain cities. </a:t>
            </a:r>
            <a:endParaRPr lang="en-US"/>
          </a:p>
          <a:p>
            <a:pPr>
              <a:buFont typeface="Arial"/>
              <a:buChar char="•"/>
            </a:pPr>
            <a:r>
              <a:rPr lang="en-US" sz="1250" dirty="0">
                <a:solidFill>
                  <a:srgbClr val="222B36"/>
                </a:solidFill>
                <a:ea typeface="+mn-lt"/>
                <a:cs typeface="+mn-lt"/>
              </a:rPr>
              <a:t>Park+ is also an </a:t>
            </a:r>
            <a:r>
              <a:rPr lang="en-US" sz="1250" b="1" dirty="0">
                <a:solidFill>
                  <a:srgbClr val="222B36"/>
                </a:solidFill>
                <a:ea typeface="+mn-lt"/>
                <a:cs typeface="+mn-lt"/>
              </a:rPr>
              <a:t>all-in-one vehicle services app</a:t>
            </a:r>
            <a:r>
              <a:rPr lang="en-US" sz="1250" dirty="0">
                <a:solidFill>
                  <a:srgbClr val="222B36"/>
                </a:solidFill>
                <a:ea typeface="+mn-lt"/>
                <a:cs typeface="+mn-lt"/>
              </a:rPr>
              <a:t>, combining parking with </a:t>
            </a:r>
            <a:r>
              <a:rPr lang="en-US" sz="1250" dirty="0" err="1">
                <a:solidFill>
                  <a:srgbClr val="222B36"/>
                </a:solidFill>
                <a:ea typeface="+mn-lt"/>
                <a:cs typeface="+mn-lt"/>
              </a:rPr>
              <a:t>FASTag</a:t>
            </a:r>
            <a:r>
              <a:rPr lang="en-US" sz="1250" dirty="0">
                <a:solidFill>
                  <a:srgbClr val="222B36"/>
                </a:solidFill>
                <a:ea typeface="+mn-lt"/>
                <a:cs typeface="+mn-lt"/>
              </a:rPr>
              <a:t>, challans, insurance, vehicle information, loans and other services. </a:t>
            </a:r>
            <a:endParaRPr lang="en-US" dirty="0"/>
          </a:p>
          <a:p>
            <a:pPr>
              <a:buFont typeface="Arial"/>
              <a:buChar char="•"/>
            </a:pPr>
            <a:r>
              <a:rPr lang="en-US" sz="1250">
                <a:solidFill>
                  <a:srgbClr val="222B36"/>
                </a:solidFill>
                <a:ea typeface="+mn-lt"/>
                <a:cs typeface="+mn-lt"/>
              </a:rPr>
              <a:t>This can make the parking experience less focused because parking is only one part of a much larger application.</a:t>
            </a:r>
            <a:endParaRPr lang="en-US"/>
          </a:p>
          <a:p>
            <a:pPr marL="228600" indent="-228600">
              <a:lnSpc>
                <a:spcPct val="108000"/>
              </a:lnSpc>
              <a:spcAft>
                <a:spcPts val="1000"/>
              </a:spcAft>
              <a:buSzPct val="100000"/>
              <a:buChar char="●"/>
            </a:pPr>
            <a:endParaRPr lang="en-US" sz="1250" dirty="0">
              <a:solidFill>
                <a:srgbClr val="222B36"/>
              </a:solidFill>
              <a:ea typeface="Calibri"/>
              <a:cs typeface="Calibri"/>
            </a:endParaRPr>
          </a:p>
        </p:txBody>
      </p:sp>
      <p:sp>
        <p:nvSpPr>
          <p:cNvPr id="11" name="Text 9"/>
          <p:cNvSpPr txBox="1"/>
          <p:nvPr/>
        </p:nvSpPr>
        <p:spPr>
          <a:xfrm>
            <a:off x="6492240" y="2615184"/>
            <a:ext cx="4892040" cy="3794760"/>
          </a:xfrm>
          <a:prstGeom prst="rect">
            <a:avLst/>
          </a:prstGeom>
          <a:noFill/>
          <a:ln/>
        </p:spPr>
        <p:txBody>
          <a:bodyPr wrap="square" lIns="0" tIns="0" rIns="0" bIns="0" rtlCol="0" anchor="t"/>
          <a:lstStyle/>
          <a:p>
            <a:pPr marL="228600" indent="-228600">
              <a:lnSpc>
                <a:spcPct val="108000"/>
              </a:lnSpc>
              <a:spcAft>
                <a:spcPts val="1000"/>
              </a:spcAft>
              <a:buSzPct val="100000"/>
              <a:buChar char="●"/>
            </a:pPr>
            <a:r>
              <a:rPr lang="en-US" sz="1250" dirty="0">
                <a:solidFill>
                  <a:srgbClr val="222B36"/>
                </a:solidFill>
                <a:latin typeface="Calibri" pitchFamily="34" charset="0"/>
                <a:ea typeface="Calibri" pitchFamily="34" charset="-122"/>
                <a:cs typeface="Calibri" pitchFamily="34" charset="-120"/>
              </a:rPr>
              <a:t>Centralized digital parking platform</a:t>
            </a:r>
            <a:endParaRPr lang="en-US" sz="1250" dirty="0"/>
          </a:p>
          <a:p>
            <a:pPr marL="228600" indent="-228600">
              <a:lnSpc>
                <a:spcPct val="108000"/>
              </a:lnSpc>
              <a:spcAft>
                <a:spcPts val="1000"/>
              </a:spcAft>
              <a:buSzPct val="100000"/>
              <a:buChar char="●"/>
            </a:pPr>
            <a:r>
              <a:rPr lang="en-US" sz="1250" dirty="0">
                <a:solidFill>
                  <a:srgbClr val="222B36"/>
                </a:solidFill>
                <a:latin typeface="Calibri" pitchFamily="34" charset="0"/>
                <a:ea typeface="Calibri" pitchFamily="34" charset="-122"/>
                <a:cs typeface="Calibri" pitchFamily="34" charset="-120"/>
              </a:rPr>
              <a:t>Users search for nearby parking areas</a:t>
            </a:r>
            <a:endParaRPr lang="en-US" sz="1250" dirty="0"/>
          </a:p>
          <a:p>
            <a:pPr marL="228600" indent="-228600">
              <a:lnSpc>
                <a:spcPct val="108000"/>
              </a:lnSpc>
              <a:spcAft>
                <a:spcPts val="1000"/>
              </a:spcAft>
              <a:buSzPct val="100000"/>
              <a:buChar char="●"/>
            </a:pPr>
            <a:r>
              <a:rPr lang="en-US" sz="1250" dirty="0">
                <a:solidFill>
                  <a:srgbClr val="222B36"/>
                </a:solidFill>
                <a:latin typeface="Calibri" pitchFamily="34" charset="0"/>
                <a:ea typeface="Calibri" pitchFamily="34" charset="-122"/>
                <a:cs typeface="Calibri" pitchFamily="34" charset="-120"/>
              </a:rPr>
              <a:t>Displays real-time availability and slot information</a:t>
            </a:r>
            <a:endParaRPr lang="en-US" sz="1250" dirty="0"/>
          </a:p>
          <a:p>
            <a:pPr marL="228600" indent="-228600">
              <a:lnSpc>
                <a:spcPct val="108000"/>
              </a:lnSpc>
              <a:spcAft>
                <a:spcPts val="1000"/>
              </a:spcAft>
              <a:buSzPct val="100000"/>
              <a:buChar char="●"/>
            </a:pPr>
            <a:r>
              <a:rPr lang="en-US" sz="1250" dirty="0">
                <a:solidFill>
                  <a:srgbClr val="222B36"/>
                </a:solidFill>
                <a:latin typeface="Calibri" pitchFamily="34" charset="0"/>
                <a:ea typeface="Calibri" pitchFamily="34" charset="-122"/>
                <a:cs typeface="Calibri" pitchFamily="34" charset="-120"/>
              </a:rPr>
              <a:t>Shows location, pricing, capacity and operating hours</a:t>
            </a:r>
            <a:endParaRPr lang="en-US" sz="1250" dirty="0"/>
          </a:p>
          <a:p>
            <a:pPr marL="228600" indent="-228600">
              <a:lnSpc>
                <a:spcPct val="108000"/>
              </a:lnSpc>
              <a:spcAft>
                <a:spcPts val="1000"/>
              </a:spcAft>
              <a:buSzPct val="100000"/>
              <a:buChar char="●"/>
            </a:pPr>
            <a:r>
              <a:rPr lang="en-US" sz="1250" dirty="0">
                <a:solidFill>
                  <a:srgbClr val="222B36"/>
                </a:solidFill>
                <a:latin typeface="Calibri" pitchFamily="34" charset="0"/>
                <a:ea typeface="Calibri" pitchFamily="34" charset="-122"/>
                <a:cs typeface="Calibri" pitchFamily="34" charset="-120"/>
              </a:rPr>
              <a:t>Users select a slot and book it in advance</a:t>
            </a:r>
            <a:endParaRPr lang="en-US" sz="1250" dirty="0"/>
          </a:p>
          <a:p>
            <a:pPr marL="228600" indent="-228600">
              <a:lnSpc>
                <a:spcPct val="108000"/>
              </a:lnSpc>
              <a:spcAft>
                <a:spcPts val="1000"/>
              </a:spcAft>
              <a:buSzPct val="100000"/>
              <a:buChar char="●"/>
            </a:pPr>
            <a:r>
              <a:rPr lang="en-US" sz="1250" dirty="0">
                <a:solidFill>
                  <a:srgbClr val="222B36"/>
                </a:solidFill>
                <a:latin typeface="Calibri" pitchFamily="34" charset="0"/>
                <a:ea typeface="Calibri" pitchFamily="34" charset="-122"/>
                <a:cs typeface="Calibri" pitchFamily="34" charset="-120"/>
              </a:rPr>
              <a:t>Availability updates on reservation / release</a:t>
            </a:r>
            <a:endParaRPr lang="en-US" sz="1250" dirty="0"/>
          </a:p>
          <a:p>
            <a:pPr marL="228600" indent="-228600">
              <a:lnSpc>
                <a:spcPct val="108000"/>
              </a:lnSpc>
              <a:spcAft>
                <a:spcPts val="1000"/>
              </a:spcAft>
              <a:buSzPct val="100000"/>
              <a:buChar char="●"/>
            </a:pPr>
            <a:r>
              <a:rPr lang="en-US" sz="1250" dirty="0">
                <a:solidFill>
                  <a:srgbClr val="222B36"/>
                </a:solidFill>
                <a:latin typeface="Calibri" pitchFamily="34" charset="0"/>
                <a:ea typeface="Calibri" pitchFamily="34" charset="-122"/>
                <a:cs typeface="Calibri" pitchFamily="34" charset="-120"/>
              </a:rPr>
              <a:t>Admin manages locations, slots, charges and bookings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marL="0" indent="0">
              <a:buNone/>
            </a:pPr>
            <a:r>
              <a:rPr lang="en-US" sz="1200" b="1" kern="0" spc="200" dirty="0">
                <a:solidFill>
                  <a:srgbClr val="2E86AB"/>
                </a:solidFill>
                <a:latin typeface="Calibri" pitchFamily="34" charset="0"/>
                <a:ea typeface="Calibri" pitchFamily="34" charset="-122"/>
                <a:cs typeface="Calibri" pitchFamily="34" charset="-120"/>
              </a:rPr>
              <a:t>SYSTEM DESIGN</a:t>
            </a:r>
            <a:endParaRPr lang="en-US" sz="1200" dirty="0"/>
          </a:p>
        </p:txBody>
      </p:sp>
      <p:sp>
        <p:nvSpPr>
          <p:cNvPr id="3" name="Text 1"/>
          <p:cNvSpPr txBox="1"/>
          <p:nvPr/>
        </p:nvSpPr>
        <p:spPr>
          <a:xfrm>
            <a:off x="548640" y="704088"/>
            <a:ext cx="10515600" cy="548640"/>
          </a:xfrm>
          <a:prstGeom prst="rect">
            <a:avLst/>
          </a:prstGeom>
          <a:noFill/>
          <a:ln/>
        </p:spPr>
        <p:txBody>
          <a:bodyPr wrap="square" lIns="0" tIns="0" rIns="0" bIns="0" rtlCol="0" anchor="ctr"/>
          <a:lstStyle/>
          <a:p>
            <a:pPr marL="0" indent="0">
              <a:buNone/>
            </a:pPr>
            <a:r>
              <a:rPr lang="en-US" sz="3000" b="1" dirty="0">
                <a:solidFill>
                  <a:srgbClr val="1E3A5F"/>
                </a:solidFill>
                <a:latin typeface="Cambria" pitchFamily="34" charset="0"/>
                <a:ea typeface="Cambria" pitchFamily="34" charset="-122"/>
                <a:cs typeface="Cambria" pitchFamily="34" charset="-120"/>
              </a:rPr>
              <a:t>Proposed System Architecture</a:t>
            </a:r>
            <a:endParaRPr lang="en-US" sz="3000" dirty="0"/>
          </a:p>
        </p:txBody>
      </p:sp>
      <p:sp>
        <p:nvSpPr>
          <p:cNvPr id="4" name="Shape 2"/>
          <p:cNvSpPr/>
          <p:nvPr/>
        </p:nvSpPr>
        <p:spPr>
          <a:xfrm>
            <a:off x="914400" y="1691640"/>
            <a:ext cx="5120640" cy="512064"/>
          </a:xfrm>
          <a:prstGeom prst="roundRect">
            <a:avLst>
              <a:gd name="adj" fmla="val 12500"/>
            </a:avLst>
          </a:prstGeom>
          <a:solidFill>
            <a:srgbClr val="1E3A5F"/>
          </a:solidFill>
          <a:ln/>
        </p:spPr>
      </p:sp>
      <p:sp>
        <p:nvSpPr>
          <p:cNvPr id="5" name="Text 3"/>
          <p:cNvSpPr txBox="1"/>
          <p:nvPr/>
        </p:nvSpPr>
        <p:spPr>
          <a:xfrm>
            <a:off x="1143000" y="1691640"/>
            <a:ext cx="4663440" cy="51206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User / Admin</a:t>
            </a:r>
            <a:endParaRPr lang="en-US" sz="1350" dirty="0"/>
          </a:p>
        </p:txBody>
      </p:sp>
      <p:sp>
        <p:nvSpPr>
          <p:cNvPr id="6" name="Shape 4"/>
          <p:cNvSpPr/>
          <p:nvPr/>
        </p:nvSpPr>
        <p:spPr>
          <a:xfrm>
            <a:off x="3383280" y="2221992"/>
            <a:ext cx="182880" cy="265176"/>
          </a:xfrm>
          <a:prstGeom prst="downArrow">
            <a:avLst/>
          </a:prstGeom>
          <a:solidFill>
            <a:srgbClr val="2E86AB"/>
          </a:solidFill>
          <a:ln/>
        </p:spPr>
      </p:sp>
      <p:sp>
        <p:nvSpPr>
          <p:cNvPr id="7" name="Shape 5"/>
          <p:cNvSpPr/>
          <p:nvPr/>
        </p:nvSpPr>
        <p:spPr>
          <a:xfrm>
            <a:off x="914400" y="2514600"/>
            <a:ext cx="5120640" cy="512064"/>
          </a:xfrm>
          <a:prstGeom prst="roundRect">
            <a:avLst>
              <a:gd name="adj" fmla="val 12500"/>
            </a:avLst>
          </a:prstGeom>
          <a:solidFill>
            <a:srgbClr val="2E86AB"/>
          </a:solidFill>
          <a:ln/>
        </p:spPr>
      </p:sp>
      <p:sp>
        <p:nvSpPr>
          <p:cNvPr id="8" name="Text 6"/>
          <p:cNvSpPr txBox="1"/>
          <p:nvPr/>
        </p:nvSpPr>
        <p:spPr>
          <a:xfrm>
            <a:off x="1143000" y="2514600"/>
            <a:ext cx="4663440" cy="51206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React.js Frontend</a:t>
            </a:r>
            <a:endParaRPr lang="en-US" sz="1350" dirty="0"/>
          </a:p>
        </p:txBody>
      </p:sp>
      <p:sp>
        <p:nvSpPr>
          <p:cNvPr id="9" name="Text 7"/>
          <p:cNvSpPr txBox="1"/>
          <p:nvPr/>
        </p:nvSpPr>
        <p:spPr>
          <a:xfrm>
            <a:off x="1143000" y="2514600"/>
            <a:ext cx="4663440" cy="512064"/>
          </a:xfrm>
          <a:prstGeom prst="rect">
            <a:avLst/>
          </a:prstGeom>
          <a:noFill/>
          <a:ln/>
        </p:spPr>
        <p:txBody>
          <a:bodyPr wrap="square" lIns="0" tIns="0" rIns="12700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UI Layer</a:t>
            </a:r>
            <a:endParaRPr lang="en-US" sz="1000" dirty="0"/>
          </a:p>
        </p:txBody>
      </p:sp>
      <p:sp>
        <p:nvSpPr>
          <p:cNvPr id="10" name="Shape 8"/>
          <p:cNvSpPr/>
          <p:nvPr/>
        </p:nvSpPr>
        <p:spPr>
          <a:xfrm>
            <a:off x="3383280" y="3044952"/>
            <a:ext cx="182880" cy="265176"/>
          </a:xfrm>
          <a:prstGeom prst="downArrow">
            <a:avLst/>
          </a:prstGeom>
          <a:solidFill>
            <a:srgbClr val="2E86AB"/>
          </a:solidFill>
          <a:ln/>
        </p:spPr>
      </p:sp>
      <p:sp>
        <p:nvSpPr>
          <p:cNvPr id="11" name="Shape 9"/>
          <p:cNvSpPr/>
          <p:nvPr/>
        </p:nvSpPr>
        <p:spPr>
          <a:xfrm>
            <a:off x="914400" y="3337560"/>
            <a:ext cx="5120640" cy="512064"/>
          </a:xfrm>
          <a:prstGeom prst="roundRect">
            <a:avLst>
              <a:gd name="adj" fmla="val 12500"/>
            </a:avLst>
          </a:prstGeom>
          <a:solidFill>
            <a:srgbClr val="2E86AB"/>
          </a:solidFill>
          <a:ln/>
        </p:spPr>
      </p:sp>
      <p:sp>
        <p:nvSpPr>
          <p:cNvPr id="12" name="Text 10"/>
          <p:cNvSpPr txBox="1"/>
          <p:nvPr/>
        </p:nvSpPr>
        <p:spPr>
          <a:xfrm>
            <a:off x="1143000" y="3337560"/>
            <a:ext cx="4663440" cy="51206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Node.js + Express.js Backend</a:t>
            </a:r>
            <a:endParaRPr lang="en-US" sz="1350" dirty="0"/>
          </a:p>
        </p:txBody>
      </p:sp>
      <p:sp>
        <p:nvSpPr>
          <p:cNvPr id="13" name="Text 11"/>
          <p:cNvSpPr txBox="1"/>
          <p:nvPr/>
        </p:nvSpPr>
        <p:spPr>
          <a:xfrm>
            <a:off x="1143000" y="3337560"/>
            <a:ext cx="4663440" cy="512064"/>
          </a:xfrm>
          <a:prstGeom prst="rect">
            <a:avLst/>
          </a:prstGeom>
          <a:noFill/>
          <a:ln/>
        </p:spPr>
        <p:txBody>
          <a:bodyPr wrap="square" lIns="0" tIns="0" rIns="12700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REST APIs</a:t>
            </a:r>
            <a:endParaRPr lang="en-US" sz="1000" dirty="0"/>
          </a:p>
        </p:txBody>
      </p:sp>
      <p:sp>
        <p:nvSpPr>
          <p:cNvPr id="14" name="Shape 12"/>
          <p:cNvSpPr/>
          <p:nvPr/>
        </p:nvSpPr>
        <p:spPr>
          <a:xfrm>
            <a:off x="3383280" y="3867912"/>
            <a:ext cx="182880" cy="265176"/>
          </a:xfrm>
          <a:prstGeom prst="downArrow">
            <a:avLst/>
          </a:prstGeom>
          <a:solidFill>
            <a:srgbClr val="2E86AB"/>
          </a:solidFill>
          <a:ln/>
        </p:spPr>
      </p:sp>
      <p:sp>
        <p:nvSpPr>
          <p:cNvPr id="15" name="Shape 13"/>
          <p:cNvSpPr/>
          <p:nvPr/>
        </p:nvSpPr>
        <p:spPr>
          <a:xfrm>
            <a:off x="914400" y="4160520"/>
            <a:ext cx="5120640" cy="512064"/>
          </a:xfrm>
          <a:prstGeom prst="roundRect">
            <a:avLst>
              <a:gd name="adj" fmla="val 12500"/>
            </a:avLst>
          </a:prstGeom>
          <a:solidFill>
            <a:srgbClr val="1E3A5F"/>
          </a:solidFill>
          <a:ln/>
        </p:spPr>
      </p:sp>
      <p:sp>
        <p:nvSpPr>
          <p:cNvPr id="16" name="Text 14"/>
          <p:cNvSpPr txBox="1"/>
          <p:nvPr/>
        </p:nvSpPr>
        <p:spPr>
          <a:xfrm>
            <a:off x="1143000" y="4160520"/>
            <a:ext cx="4663440" cy="51206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MySQL Database</a:t>
            </a:r>
            <a:endParaRPr lang="en-US" sz="1350" dirty="0"/>
          </a:p>
        </p:txBody>
      </p:sp>
      <p:sp>
        <p:nvSpPr>
          <p:cNvPr id="17" name="Text 15"/>
          <p:cNvSpPr txBox="1"/>
          <p:nvPr/>
        </p:nvSpPr>
        <p:spPr>
          <a:xfrm>
            <a:off x="1143000" y="4160520"/>
            <a:ext cx="4663440" cy="512064"/>
          </a:xfrm>
          <a:prstGeom prst="rect">
            <a:avLst/>
          </a:prstGeom>
          <a:noFill/>
          <a:ln/>
        </p:spPr>
        <p:txBody>
          <a:bodyPr wrap="square" lIns="0" tIns="0" rIns="12700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Users · Parking · Slots · Bookings</a:t>
            </a:r>
            <a:endParaRPr lang="en-US" sz="1000" dirty="0"/>
          </a:p>
        </p:txBody>
      </p:sp>
      <p:sp>
        <p:nvSpPr>
          <p:cNvPr id="18" name="Shape 16"/>
          <p:cNvSpPr/>
          <p:nvPr/>
        </p:nvSpPr>
        <p:spPr>
          <a:xfrm>
            <a:off x="6720840" y="2468880"/>
            <a:ext cx="4023360" cy="713232"/>
          </a:xfrm>
          <a:prstGeom prst="roundRect">
            <a:avLst>
              <a:gd name="adj" fmla="val 10256"/>
            </a:avLst>
          </a:prstGeom>
          <a:solidFill>
            <a:srgbClr val="F4F7FA"/>
          </a:solidFill>
          <a:ln w="12700">
            <a:solidFill>
              <a:srgbClr val="D6E0E8"/>
            </a:solidFill>
            <a:prstDash val="solid"/>
          </a:ln>
        </p:spPr>
      </p:sp>
      <p:sp>
        <p:nvSpPr>
          <p:cNvPr id="19" name="Text 17"/>
          <p:cNvSpPr txBox="1"/>
          <p:nvPr/>
        </p:nvSpPr>
        <p:spPr>
          <a:xfrm>
            <a:off x="6949440" y="2560320"/>
            <a:ext cx="3566160" cy="27432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Google Maps API</a:t>
            </a:r>
            <a:endParaRPr lang="en-US" sz="1300" dirty="0"/>
          </a:p>
        </p:txBody>
      </p:sp>
      <p:sp>
        <p:nvSpPr>
          <p:cNvPr id="20" name="Text 18"/>
          <p:cNvSpPr txBox="1"/>
          <p:nvPr/>
        </p:nvSpPr>
        <p:spPr>
          <a:xfrm>
            <a:off x="6949440" y="2852928"/>
            <a:ext cx="3566160" cy="274320"/>
          </a:xfrm>
          <a:prstGeom prst="rect">
            <a:avLst/>
          </a:prstGeom>
          <a:noFill/>
          <a:ln/>
        </p:spPr>
        <p:txBody>
          <a:bodyPr wrap="square" lIns="0" tIns="0" rIns="0" bIns="0" rtlCol="0" anchor="ctr"/>
          <a:lstStyle/>
          <a:p>
            <a:pPr marL="0" indent="0">
              <a:buNone/>
            </a:pPr>
            <a:r>
              <a:rPr lang="en-US" sz="1050" dirty="0">
                <a:solidFill>
                  <a:srgbClr val="5B6B7A"/>
                </a:solidFill>
                <a:latin typeface="Calibri" pitchFamily="34" charset="0"/>
                <a:ea typeface="Calibri" pitchFamily="34" charset="-122"/>
                <a:cs typeface="Calibri" pitchFamily="34" charset="-120"/>
              </a:rPr>
              <a:t>Parking location display &amp; navigation</a:t>
            </a:r>
            <a:endParaRPr lang="en-US" sz="1050" dirty="0"/>
          </a:p>
        </p:txBody>
      </p:sp>
      <p:sp>
        <p:nvSpPr>
          <p:cNvPr id="21" name="Shape 19"/>
          <p:cNvSpPr/>
          <p:nvPr/>
        </p:nvSpPr>
        <p:spPr>
          <a:xfrm>
            <a:off x="6035040" y="2770632"/>
            <a:ext cx="685800" cy="0"/>
          </a:xfrm>
          <a:prstGeom prst="line">
            <a:avLst/>
          </a:prstGeom>
          <a:noFill/>
          <a:ln w="19050">
            <a:solidFill>
              <a:srgbClr val="2E86AB"/>
            </a:solidFill>
            <a:prstDash val="dash"/>
          </a:ln>
        </p:spPr>
      </p:sp>
      <p:sp>
        <p:nvSpPr>
          <p:cNvPr id="22" name="Shape 20"/>
          <p:cNvSpPr/>
          <p:nvPr/>
        </p:nvSpPr>
        <p:spPr>
          <a:xfrm>
            <a:off x="6720840" y="3182112"/>
            <a:ext cx="4023360" cy="713232"/>
          </a:xfrm>
          <a:prstGeom prst="roundRect">
            <a:avLst>
              <a:gd name="adj" fmla="val 10256"/>
            </a:avLst>
          </a:prstGeom>
          <a:solidFill>
            <a:srgbClr val="F4F7FA"/>
          </a:solidFill>
          <a:ln w="12700">
            <a:solidFill>
              <a:srgbClr val="D6E0E8"/>
            </a:solidFill>
            <a:prstDash val="solid"/>
          </a:ln>
        </p:spPr>
      </p:sp>
      <p:sp>
        <p:nvSpPr>
          <p:cNvPr id="23" name="Text 21"/>
          <p:cNvSpPr txBox="1"/>
          <p:nvPr/>
        </p:nvSpPr>
        <p:spPr>
          <a:xfrm>
            <a:off x="6949440" y="3273552"/>
            <a:ext cx="3566160" cy="27432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Postman</a:t>
            </a:r>
            <a:endParaRPr lang="en-US" sz="1300" dirty="0"/>
          </a:p>
        </p:txBody>
      </p:sp>
      <p:sp>
        <p:nvSpPr>
          <p:cNvPr id="24" name="Text 22"/>
          <p:cNvSpPr txBox="1"/>
          <p:nvPr/>
        </p:nvSpPr>
        <p:spPr>
          <a:xfrm>
            <a:off x="6949440" y="3566160"/>
            <a:ext cx="3566160" cy="274320"/>
          </a:xfrm>
          <a:prstGeom prst="rect">
            <a:avLst/>
          </a:prstGeom>
          <a:noFill/>
          <a:ln/>
        </p:spPr>
        <p:txBody>
          <a:bodyPr wrap="square" lIns="0" tIns="0" rIns="0" bIns="0" rtlCol="0" anchor="ctr"/>
          <a:lstStyle/>
          <a:p>
            <a:pPr marL="0" indent="0">
              <a:buNone/>
            </a:pPr>
            <a:r>
              <a:rPr lang="en-US" sz="1050" dirty="0">
                <a:solidFill>
                  <a:srgbClr val="5B6B7A"/>
                </a:solidFill>
                <a:latin typeface="Calibri" pitchFamily="34" charset="0"/>
                <a:ea typeface="Calibri" pitchFamily="34" charset="-122"/>
                <a:cs typeface="Calibri" pitchFamily="34" charset="-120"/>
              </a:rPr>
              <a:t>Backend REST API testing</a:t>
            </a:r>
            <a:endParaRPr lang="en-US" sz="1050" dirty="0"/>
          </a:p>
        </p:txBody>
      </p:sp>
      <p:sp>
        <p:nvSpPr>
          <p:cNvPr id="25" name="Shape 23"/>
          <p:cNvSpPr/>
          <p:nvPr/>
        </p:nvSpPr>
        <p:spPr>
          <a:xfrm>
            <a:off x="6035040" y="3593592"/>
            <a:ext cx="685800" cy="0"/>
          </a:xfrm>
          <a:prstGeom prst="line">
            <a:avLst/>
          </a:prstGeom>
          <a:noFill/>
          <a:ln w="19050">
            <a:solidFill>
              <a:srgbClr val="2E86AB"/>
            </a:solidFill>
            <a:prstDash val="dash"/>
          </a:ln>
        </p:spPr>
      </p:sp>
      <p:sp>
        <p:nvSpPr>
          <p:cNvPr id="26" name="Shape 24"/>
          <p:cNvSpPr/>
          <p:nvPr/>
        </p:nvSpPr>
        <p:spPr>
          <a:xfrm>
            <a:off x="548640" y="4928616"/>
            <a:ext cx="11109960" cy="1417320"/>
          </a:xfrm>
          <a:prstGeom prst="roundRect">
            <a:avLst>
              <a:gd name="adj" fmla="val 5161"/>
            </a:avLst>
          </a:prstGeom>
          <a:solidFill>
            <a:srgbClr val="1E3A5F"/>
          </a:solidFill>
          <a:ln/>
        </p:spPr>
      </p:sp>
      <p:sp>
        <p:nvSpPr>
          <p:cNvPr id="27" name="Text 25"/>
          <p:cNvSpPr txBox="1"/>
          <p:nvPr/>
        </p:nvSpPr>
        <p:spPr>
          <a:xfrm>
            <a:off x="777240" y="5056632"/>
            <a:ext cx="2011680" cy="219456"/>
          </a:xfrm>
          <a:prstGeom prst="rect">
            <a:avLst/>
          </a:prstGeom>
          <a:noFill/>
          <a:ln/>
        </p:spPr>
        <p:txBody>
          <a:bodyPr wrap="square" lIns="0" tIns="0" rIns="0" bIns="0" rtlCol="0" anchor="ctr"/>
          <a:lstStyle/>
          <a:p>
            <a:pPr marL="0" indent="0">
              <a:buNone/>
            </a:pPr>
            <a:r>
              <a:rPr lang="en-US" sz="950" b="1" kern="0" spc="100" dirty="0">
                <a:solidFill>
                  <a:srgbClr val="2E86AB"/>
                </a:solidFill>
                <a:latin typeface="Calibri" pitchFamily="34" charset="0"/>
                <a:ea typeface="Calibri" pitchFamily="34" charset="-122"/>
                <a:cs typeface="Calibri" pitchFamily="34" charset="-120"/>
              </a:rPr>
              <a:t>USER FLOW</a:t>
            </a:r>
            <a:endParaRPr lang="en-US" sz="950" dirty="0"/>
          </a:p>
        </p:txBody>
      </p:sp>
      <p:sp>
        <p:nvSpPr>
          <p:cNvPr id="28" name="Text 26"/>
          <p:cNvSpPr txBox="1"/>
          <p:nvPr/>
        </p:nvSpPr>
        <p:spPr>
          <a:xfrm>
            <a:off x="777240" y="5276088"/>
            <a:ext cx="10607040" cy="25603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Search Parking  →  View Availability  →  Select Slot  →  Choose Duration  →  Book Slot  →  DB Updated</a:t>
            </a:r>
            <a:endParaRPr lang="en-US" sz="1100" dirty="0"/>
          </a:p>
        </p:txBody>
      </p:sp>
      <p:sp>
        <p:nvSpPr>
          <p:cNvPr id="29" name="Text 27"/>
          <p:cNvSpPr txBox="1"/>
          <p:nvPr/>
        </p:nvSpPr>
        <p:spPr>
          <a:xfrm>
            <a:off x="777240" y="5623560"/>
            <a:ext cx="2011680" cy="219456"/>
          </a:xfrm>
          <a:prstGeom prst="rect">
            <a:avLst/>
          </a:prstGeom>
          <a:noFill/>
          <a:ln/>
        </p:spPr>
        <p:txBody>
          <a:bodyPr wrap="square" lIns="0" tIns="0" rIns="0" bIns="0" rtlCol="0" anchor="ctr"/>
          <a:lstStyle/>
          <a:p>
            <a:pPr marL="0" indent="0">
              <a:buNone/>
            </a:pPr>
            <a:r>
              <a:rPr lang="en-US" sz="950" b="1" kern="0" spc="100" dirty="0">
                <a:solidFill>
                  <a:srgbClr val="2E86AB"/>
                </a:solidFill>
                <a:latin typeface="Calibri" pitchFamily="34" charset="0"/>
                <a:ea typeface="Calibri" pitchFamily="34" charset="-122"/>
                <a:cs typeface="Calibri" pitchFamily="34" charset="-120"/>
              </a:rPr>
              <a:t>ADMIN FLOW</a:t>
            </a:r>
            <a:endParaRPr lang="en-US" sz="950" dirty="0"/>
          </a:p>
        </p:txBody>
      </p:sp>
      <p:sp>
        <p:nvSpPr>
          <p:cNvPr id="30" name="Text 28"/>
          <p:cNvSpPr txBox="1"/>
          <p:nvPr/>
        </p:nvSpPr>
        <p:spPr>
          <a:xfrm>
            <a:off x="777240" y="5843016"/>
            <a:ext cx="10607040" cy="256032"/>
          </a:xfrm>
          <a:prstGeom prst="rect">
            <a:avLst/>
          </a:prstGeom>
          <a:noFill/>
          <a:ln/>
        </p:spPr>
        <p:txBody>
          <a:bodyPr wrap="square" lIns="0" tIns="0" rIns="0" bIns="0" rtlCol="0" anchor="ctr"/>
          <a:lstStyle/>
          <a:p>
            <a:pPr marL="0" indent="0">
              <a:buNone/>
            </a:pPr>
            <a:r>
              <a:rPr lang="en-US" sz="1100" dirty="0">
                <a:solidFill>
                  <a:srgbClr val="CADCE8"/>
                </a:solidFill>
                <a:latin typeface="Calibri" pitchFamily="34" charset="0"/>
                <a:ea typeface="Calibri" pitchFamily="34" charset="-122"/>
                <a:cs typeface="Calibri" pitchFamily="34" charset="-120"/>
              </a:rPr>
              <a:t>Manage Locations  →  Manage Slots  →  Update Charges  →  Monitor Bookings / Availability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73245C-43E3-B7F1-F68B-8CC013B2BF71}"/>
              </a:ext>
            </a:extLst>
          </p:cNvPr>
          <p:cNvSpPr txBox="1"/>
          <p:nvPr/>
        </p:nvSpPr>
        <p:spPr>
          <a:xfrm>
            <a:off x="636739" y="568891"/>
            <a:ext cx="60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i="0" u="none" strike="noStrike" baseline="0">
                <a:solidFill>
                  <a:srgbClr val="2E86AB"/>
                </a:solidFill>
                <a:latin typeface="Calibri"/>
              </a:rPr>
              <a:t>SYSTEM DESIGN</a:t>
            </a:r>
            <a:r>
              <a:rPr sz="1200" b="0" i="0">
                <a:solidFill>
                  <a:srgbClr val="000000"/>
                </a:solidFill>
                <a:latin typeface="Calibri"/>
                <a:ea typeface="Calibri"/>
                <a:cs typeface="Calibri"/>
              </a:rPr>
              <a:t>​</a:t>
            </a:r>
            <a:endParaRPr lang="en-US"/>
          </a:p>
          <a:p>
            <a:pPr algn="ctr"/>
            <a:endParaRPr lang="en-US"/>
          </a:p>
        </p:txBody>
      </p:sp>
      <p:sp>
        <p:nvSpPr>
          <p:cNvPr id="3" name="TextBox 2">
            <a:extLst>
              <a:ext uri="{FF2B5EF4-FFF2-40B4-BE49-F238E27FC236}">
                <a16:creationId xmlns:a16="http://schemas.microsoft.com/office/drawing/2014/main" id="{4B98ADE6-3B45-A6B1-8B28-BE75BD13D7F0}"/>
              </a:ext>
            </a:extLst>
          </p:cNvPr>
          <p:cNvSpPr txBox="1"/>
          <p:nvPr/>
        </p:nvSpPr>
        <p:spPr>
          <a:xfrm>
            <a:off x="636740" y="882041"/>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i="0" u="none" strike="noStrike" baseline="0">
                <a:solidFill>
                  <a:srgbClr val="1E3A5F"/>
                </a:solidFill>
                <a:latin typeface="Cambria"/>
              </a:rPr>
              <a:t>Proposed System Architecture</a:t>
            </a:r>
            <a:r>
              <a:rPr sz="3000" b="0" i="0">
                <a:solidFill>
                  <a:srgbClr val="000000"/>
                </a:solidFill>
                <a:latin typeface="Cambria"/>
                <a:ea typeface="Cambria"/>
                <a:cs typeface="Cambria"/>
              </a:rPr>
              <a:t>​</a:t>
            </a:r>
            <a:endParaRPr lang="en-US"/>
          </a:p>
          <a:p>
            <a:pPr algn="ctr"/>
            <a:endParaRPr lang="en-US"/>
          </a:p>
        </p:txBody>
      </p:sp>
      <p:pic>
        <p:nvPicPr>
          <p:cNvPr id="4" name="Picture 3">
            <a:extLst>
              <a:ext uri="{FF2B5EF4-FFF2-40B4-BE49-F238E27FC236}">
                <a16:creationId xmlns:a16="http://schemas.microsoft.com/office/drawing/2014/main" id="{36C9101A-3875-4FBA-15F6-4DF62A7D03CA}"/>
              </a:ext>
            </a:extLst>
          </p:cNvPr>
          <p:cNvPicPr>
            <a:picLocks noChangeAspect="1"/>
          </p:cNvPicPr>
          <p:nvPr/>
        </p:nvPicPr>
        <p:blipFill>
          <a:blip r:embed="rId2"/>
          <a:stretch>
            <a:fillRect/>
          </a:stretch>
        </p:blipFill>
        <p:spPr>
          <a:xfrm>
            <a:off x="639349" y="1534439"/>
            <a:ext cx="8804754" cy="4979096"/>
          </a:xfrm>
          <a:prstGeom prst="rect">
            <a:avLst/>
          </a:prstGeom>
        </p:spPr>
      </p:pic>
    </p:spTree>
    <p:extLst>
      <p:ext uri="{BB962C8B-B14F-4D97-AF65-F5344CB8AC3E}">
        <p14:creationId xmlns:p14="http://schemas.microsoft.com/office/powerpoint/2010/main" val="1304700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marL="0" indent="0">
              <a:buNone/>
            </a:pPr>
            <a:r>
              <a:rPr lang="en-US" sz="1200" b="1" kern="0" spc="200" dirty="0">
                <a:solidFill>
                  <a:srgbClr val="2E86AB"/>
                </a:solidFill>
                <a:latin typeface="Calibri" pitchFamily="34" charset="0"/>
                <a:ea typeface="Calibri" pitchFamily="34" charset="-122"/>
                <a:cs typeface="Calibri" pitchFamily="34" charset="-120"/>
              </a:rPr>
              <a:t>TECH STACK</a:t>
            </a:r>
            <a:endParaRPr lang="en-US" sz="1200" dirty="0"/>
          </a:p>
        </p:txBody>
      </p:sp>
      <p:sp>
        <p:nvSpPr>
          <p:cNvPr id="3" name="Text 1"/>
          <p:cNvSpPr txBox="1"/>
          <p:nvPr/>
        </p:nvSpPr>
        <p:spPr>
          <a:xfrm>
            <a:off x="548640" y="704088"/>
            <a:ext cx="10515600" cy="548640"/>
          </a:xfrm>
          <a:prstGeom prst="rect">
            <a:avLst/>
          </a:prstGeom>
          <a:noFill/>
          <a:ln/>
        </p:spPr>
        <p:txBody>
          <a:bodyPr wrap="square" lIns="0" tIns="0" rIns="0" bIns="0" rtlCol="0" anchor="ctr"/>
          <a:lstStyle/>
          <a:p>
            <a:pPr marL="0" indent="0">
              <a:buNone/>
            </a:pPr>
            <a:r>
              <a:rPr lang="en-US" sz="3000" b="1" dirty="0">
                <a:solidFill>
                  <a:srgbClr val="1E3A5F"/>
                </a:solidFill>
                <a:latin typeface="Cambria" pitchFamily="34" charset="0"/>
                <a:ea typeface="Cambria" pitchFamily="34" charset="-122"/>
                <a:cs typeface="Cambria" pitchFamily="34" charset="-120"/>
              </a:rPr>
              <a:t>Tools and Technologies Used</a:t>
            </a:r>
            <a:endParaRPr lang="en-US" sz="3000" dirty="0"/>
          </a:p>
        </p:txBody>
      </p:sp>
      <p:sp>
        <p:nvSpPr>
          <p:cNvPr id="4" name="Shape 2"/>
          <p:cNvSpPr/>
          <p:nvPr/>
        </p:nvSpPr>
        <p:spPr>
          <a:xfrm>
            <a:off x="548640" y="1737360"/>
            <a:ext cx="3532632" cy="2043684"/>
          </a:xfrm>
          <a:prstGeom prst="roundRect">
            <a:avLst>
              <a:gd name="adj" fmla="val 3579"/>
            </a:avLst>
          </a:prstGeom>
          <a:solidFill>
            <a:srgbClr val="F4F7FA"/>
          </a:solidFill>
          <a:ln w="12700">
            <a:solidFill>
              <a:srgbClr val="D6E0E8"/>
            </a:solidFill>
            <a:prstDash val="solid"/>
          </a:ln>
        </p:spPr>
      </p:sp>
      <p:sp>
        <p:nvSpPr>
          <p:cNvPr id="5" name="Text 3"/>
          <p:cNvSpPr txBox="1"/>
          <p:nvPr/>
        </p:nvSpPr>
        <p:spPr>
          <a:xfrm>
            <a:off x="777240" y="1883664"/>
            <a:ext cx="3075432" cy="274320"/>
          </a:xfrm>
          <a:prstGeom prst="rect">
            <a:avLst/>
          </a:prstGeom>
          <a:noFill/>
          <a:ln/>
        </p:spPr>
        <p:txBody>
          <a:bodyPr wrap="square" lIns="0" tIns="0" rIns="0" bIns="0" rtlCol="0" anchor="ctr"/>
          <a:lstStyle/>
          <a:p>
            <a:pPr marL="0" indent="0">
              <a:buNone/>
            </a:pPr>
            <a:r>
              <a:rPr lang="en-US" sz="1150" b="1" kern="0" spc="100" dirty="0">
                <a:solidFill>
                  <a:srgbClr val="2E86AB"/>
                </a:solidFill>
                <a:latin typeface="Calibri" pitchFamily="34" charset="0"/>
                <a:ea typeface="Calibri" pitchFamily="34" charset="-122"/>
                <a:cs typeface="Calibri" pitchFamily="34" charset="-120"/>
              </a:rPr>
              <a:t>FRONTEND</a:t>
            </a:r>
            <a:endParaRPr lang="en-US" sz="1150" dirty="0"/>
          </a:p>
        </p:txBody>
      </p:sp>
      <p:sp>
        <p:nvSpPr>
          <p:cNvPr id="6" name="Text 4"/>
          <p:cNvSpPr txBox="1"/>
          <p:nvPr/>
        </p:nvSpPr>
        <p:spPr>
          <a:xfrm>
            <a:off x="777240" y="2267712"/>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HTML / CSS / JavaScript</a:t>
            </a:r>
            <a:endParaRPr lang="en-US" sz="1250" dirty="0"/>
          </a:p>
        </p:txBody>
      </p:sp>
      <p:sp>
        <p:nvSpPr>
          <p:cNvPr id="7" name="Text 5"/>
          <p:cNvSpPr txBox="1"/>
          <p:nvPr/>
        </p:nvSpPr>
        <p:spPr>
          <a:xfrm>
            <a:off x="777240" y="2514600"/>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Structure &amp; styling</a:t>
            </a:r>
            <a:endParaRPr lang="en-US" sz="1000" dirty="0"/>
          </a:p>
        </p:txBody>
      </p:sp>
      <p:sp>
        <p:nvSpPr>
          <p:cNvPr id="8" name="Text 6"/>
          <p:cNvSpPr txBox="1"/>
          <p:nvPr/>
        </p:nvSpPr>
        <p:spPr>
          <a:xfrm>
            <a:off x="777240" y="2926080"/>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React.js</a:t>
            </a:r>
            <a:endParaRPr lang="en-US" sz="1250" dirty="0"/>
          </a:p>
        </p:txBody>
      </p:sp>
      <p:sp>
        <p:nvSpPr>
          <p:cNvPr id="9" name="Text 7"/>
          <p:cNvSpPr txBox="1"/>
          <p:nvPr/>
        </p:nvSpPr>
        <p:spPr>
          <a:xfrm>
            <a:off x="777240" y="3172968"/>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Interactive user interface</a:t>
            </a:r>
            <a:endParaRPr lang="en-US" sz="1000" dirty="0"/>
          </a:p>
        </p:txBody>
      </p:sp>
      <p:sp>
        <p:nvSpPr>
          <p:cNvPr id="10" name="Shape 8"/>
          <p:cNvSpPr/>
          <p:nvPr/>
        </p:nvSpPr>
        <p:spPr>
          <a:xfrm>
            <a:off x="4337304" y="1737360"/>
            <a:ext cx="3532632" cy="2043684"/>
          </a:xfrm>
          <a:prstGeom prst="roundRect">
            <a:avLst>
              <a:gd name="adj" fmla="val 3579"/>
            </a:avLst>
          </a:prstGeom>
          <a:solidFill>
            <a:srgbClr val="F4F7FA"/>
          </a:solidFill>
          <a:ln w="12700">
            <a:solidFill>
              <a:srgbClr val="D6E0E8"/>
            </a:solidFill>
            <a:prstDash val="solid"/>
          </a:ln>
        </p:spPr>
      </p:sp>
      <p:sp>
        <p:nvSpPr>
          <p:cNvPr id="11" name="Text 9"/>
          <p:cNvSpPr txBox="1"/>
          <p:nvPr/>
        </p:nvSpPr>
        <p:spPr>
          <a:xfrm>
            <a:off x="4565904" y="1883664"/>
            <a:ext cx="3075432" cy="274320"/>
          </a:xfrm>
          <a:prstGeom prst="rect">
            <a:avLst/>
          </a:prstGeom>
          <a:noFill/>
          <a:ln/>
        </p:spPr>
        <p:txBody>
          <a:bodyPr wrap="square" lIns="0" tIns="0" rIns="0" bIns="0" rtlCol="0" anchor="ctr"/>
          <a:lstStyle/>
          <a:p>
            <a:pPr marL="0" indent="0">
              <a:buNone/>
            </a:pPr>
            <a:r>
              <a:rPr lang="en-US" sz="1150" b="1" kern="0" spc="100" dirty="0">
                <a:solidFill>
                  <a:srgbClr val="2E86AB"/>
                </a:solidFill>
                <a:latin typeface="Calibri" pitchFamily="34" charset="0"/>
                <a:ea typeface="Calibri" pitchFamily="34" charset="-122"/>
                <a:cs typeface="Calibri" pitchFamily="34" charset="-120"/>
              </a:rPr>
              <a:t>BACKEND</a:t>
            </a:r>
            <a:endParaRPr lang="en-US" sz="1150" dirty="0"/>
          </a:p>
        </p:txBody>
      </p:sp>
      <p:sp>
        <p:nvSpPr>
          <p:cNvPr id="12" name="Text 10"/>
          <p:cNvSpPr txBox="1"/>
          <p:nvPr/>
        </p:nvSpPr>
        <p:spPr>
          <a:xfrm>
            <a:off x="4565904" y="2267712"/>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Node.js</a:t>
            </a:r>
            <a:endParaRPr lang="en-US" sz="1250" dirty="0"/>
          </a:p>
        </p:txBody>
      </p:sp>
      <p:sp>
        <p:nvSpPr>
          <p:cNvPr id="13" name="Text 11"/>
          <p:cNvSpPr txBox="1"/>
          <p:nvPr/>
        </p:nvSpPr>
        <p:spPr>
          <a:xfrm>
            <a:off x="4565904" y="2514600"/>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Server-side operations</a:t>
            </a:r>
            <a:endParaRPr lang="en-US" sz="1000" dirty="0"/>
          </a:p>
        </p:txBody>
      </p:sp>
      <p:sp>
        <p:nvSpPr>
          <p:cNvPr id="14" name="Text 12"/>
          <p:cNvSpPr txBox="1"/>
          <p:nvPr/>
        </p:nvSpPr>
        <p:spPr>
          <a:xfrm>
            <a:off x="4565904" y="2926080"/>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Express.js</a:t>
            </a:r>
            <a:endParaRPr lang="en-US" sz="1250" dirty="0"/>
          </a:p>
        </p:txBody>
      </p:sp>
      <p:sp>
        <p:nvSpPr>
          <p:cNvPr id="15" name="Text 13"/>
          <p:cNvSpPr txBox="1"/>
          <p:nvPr/>
        </p:nvSpPr>
        <p:spPr>
          <a:xfrm>
            <a:off x="4565904" y="3172968"/>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REST APIs</a:t>
            </a:r>
            <a:endParaRPr lang="en-US" sz="1000" dirty="0"/>
          </a:p>
        </p:txBody>
      </p:sp>
      <p:sp>
        <p:nvSpPr>
          <p:cNvPr id="16" name="Shape 14"/>
          <p:cNvSpPr/>
          <p:nvPr/>
        </p:nvSpPr>
        <p:spPr>
          <a:xfrm>
            <a:off x="8125968" y="1737360"/>
            <a:ext cx="3532632" cy="2043684"/>
          </a:xfrm>
          <a:prstGeom prst="roundRect">
            <a:avLst>
              <a:gd name="adj" fmla="val 3579"/>
            </a:avLst>
          </a:prstGeom>
          <a:solidFill>
            <a:srgbClr val="F4F7FA"/>
          </a:solidFill>
          <a:ln w="12700">
            <a:solidFill>
              <a:srgbClr val="D6E0E8"/>
            </a:solidFill>
            <a:prstDash val="solid"/>
          </a:ln>
        </p:spPr>
      </p:sp>
      <p:sp>
        <p:nvSpPr>
          <p:cNvPr id="17" name="Text 15"/>
          <p:cNvSpPr txBox="1"/>
          <p:nvPr/>
        </p:nvSpPr>
        <p:spPr>
          <a:xfrm>
            <a:off x="8354568" y="1883664"/>
            <a:ext cx="3075432" cy="274320"/>
          </a:xfrm>
          <a:prstGeom prst="rect">
            <a:avLst/>
          </a:prstGeom>
          <a:noFill/>
          <a:ln/>
        </p:spPr>
        <p:txBody>
          <a:bodyPr wrap="square" lIns="0" tIns="0" rIns="0" bIns="0" rtlCol="0" anchor="ctr"/>
          <a:lstStyle/>
          <a:p>
            <a:pPr marL="0" indent="0">
              <a:buNone/>
            </a:pPr>
            <a:r>
              <a:rPr lang="en-US" sz="1150" b="1" kern="0" spc="100" dirty="0">
                <a:solidFill>
                  <a:srgbClr val="2E86AB"/>
                </a:solidFill>
                <a:latin typeface="Calibri" pitchFamily="34" charset="0"/>
                <a:ea typeface="Calibri" pitchFamily="34" charset="-122"/>
                <a:cs typeface="Calibri" pitchFamily="34" charset="-120"/>
              </a:rPr>
              <a:t>DATABASE</a:t>
            </a:r>
            <a:endParaRPr lang="en-US" sz="1150" dirty="0"/>
          </a:p>
        </p:txBody>
      </p:sp>
      <p:sp>
        <p:nvSpPr>
          <p:cNvPr id="18" name="Text 16"/>
          <p:cNvSpPr txBox="1"/>
          <p:nvPr/>
        </p:nvSpPr>
        <p:spPr>
          <a:xfrm>
            <a:off x="8354568" y="2267712"/>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MySQL</a:t>
            </a:r>
            <a:endParaRPr lang="en-US" sz="1250" dirty="0"/>
          </a:p>
        </p:txBody>
      </p:sp>
      <p:sp>
        <p:nvSpPr>
          <p:cNvPr id="19" name="Text 17"/>
          <p:cNvSpPr txBox="1"/>
          <p:nvPr/>
        </p:nvSpPr>
        <p:spPr>
          <a:xfrm>
            <a:off x="8354568" y="2514600"/>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Users, parking, slots &amp; bookings</a:t>
            </a:r>
            <a:endParaRPr lang="en-US" sz="1000" dirty="0"/>
          </a:p>
        </p:txBody>
      </p:sp>
      <p:sp>
        <p:nvSpPr>
          <p:cNvPr id="20" name="Shape 18"/>
          <p:cNvSpPr/>
          <p:nvPr/>
        </p:nvSpPr>
        <p:spPr>
          <a:xfrm>
            <a:off x="548640" y="4037076"/>
            <a:ext cx="3532632" cy="2043684"/>
          </a:xfrm>
          <a:prstGeom prst="roundRect">
            <a:avLst>
              <a:gd name="adj" fmla="val 3579"/>
            </a:avLst>
          </a:prstGeom>
          <a:solidFill>
            <a:srgbClr val="F4F7FA"/>
          </a:solidFill>
          <a:ln w="12700">
            <a:solidFill>
              <a:srgbClr val="D6E0E8"/>
            </a:solidFill>
            <a:prstDash val="solid"/>
          </a:ln>
        </p:spPr>
      </p:sp>
      <p:sp>
        <p:nvSpPr>
          <p:cNvPr id="21" name="Text 19"/>
          <p:cNvSpPr txBox="1"/>
          <p:nvPr/>
        </p:nvSpPr>
        <p:spPr>
          <a:xfrm>
            <a:off x="777240" y="4183380"/>
            <a:ext cx="3075432" cy="274320"/>
          </a:xfrm>
          <a:prstGeom prst="rect">
            <a:avLst/>
          </a:prstGeom>
          <a:noFill/>
          <a:ln/>
        </p:spPr>
        <p:txBody>
          <a:bodyPr wrap="square" lIns="0" tIns="0" rIns="0" bIns="0" rtlCol="0" anchor="ctr"/>
          <a:lstStyle/>
          <a:p>
            <a:pPr marL="0" indent="0">
              <a:buNone/>
            </a:pPr>
            <a:r>
              <a:rPr lang="en-US" sz="1150" b="1" kern="0" spc="100" dirty="0">
                <a:solidFill>
                  <a:srgbClr val="2E86AB"/>
                </a:solidFill>
                <a:latin typeface="Calibri" pitchFamily="34" charset="0"/>
                <a:ea typeface="Calibri" pitchFamily="34" charset="-122"/>
                <a:cs typeface="Calibri" pitchFamily="34" charset="-120"/>
              </a:rPr>
              <a:t>DEV &amp; VERSION CONTROL</a:t>
            </a:r>
            <a:endParaRPr lang="en-US" sz="1150" dirty="0"/>
          </a:p>
        </p:txBody>
      </p:sp>
      <p:sp>
        <p:nvSpPr>
          <p:cNvPr id="22" name="Text 20"/>
          <p:cNvSpPr txBox="1"/>
          <p:nvPr/>
        </p:nvSpPr>
        <p:spPr>
          <a:xfrm>
            <a:off x="777240" y="4567428"/>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VS Code</a:t>
            </a:r>
            <a:endParaRPr lang="en-US" sz="1250" dirty="0"/>
          </a:p>
        </p:txBody>
      </p:sp>
      <p:sp>
        <p:nvSpPr>
          <p:cNvPr id="23" name="Text 21"/>
          <p:cNvSpPr txBox="1"/>
          <p:nvPr/>
        </p:nvSpPr>
        <p:spPr>
          <a:xfrm>
            <a:off x="777240" y="4814316"/>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Development environment</a:t>
            </a:r>
            <a:endParaRPr lang="en-US" sz="1000" dirty="0"/>
          </a:p>
        </p:txBody>
      </p:sp>
      <p:sp>
        <p:nvSpPr>
          <p:cNvPr id="24" name="Text 22"/>
          <p:cNvSpPr txBox="1"/>
          <p:nvPr/>
        </p:nvSpPr>
        <p:spPr>
          <a:xfrm>
            <a:off x="777240" y="5225796"/>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Git &amp; GitHub</a:t>
            </a:r>
            <a:endParaRPr lang="en-US" sz="1250" dirty="0"/>
          </a:p>
        </p:txBody>
      </p:sp>
      <p:sp>
        <p:nvSpPr>
          <p:cNvPr id="25" name="Text 23"/>
          <p:cNvSpPr txBox="1"/>
          <p:nvPr/>
        </p:nvSpPr>
        <p:spPr>
          <a:xfrm>
            <a:off x="777240" y="5472684"/>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Code management &amp; tracking</a:t>
            </a:r>
            <a:endParaRPr lang="en-US" sz="1000" dirty="0"/>
          </a:p>
        </p:txBody>
      </p:sp>
      <p:sp>
        <p:nvSpPr>
          <p:cNvPr id="26" name="Shape 24"/>
          <p:cNvSpPr/>
          <p:nvPr/>
        </p:nvSpPr>
        <p:spPr>
          <a:xfrm>
            <a:off x="4337304" y="4037076"/>
            <a:ext cx="3532632" cy="2043684"/>
          </a:xfrm>
          <a:prstGeom prst="roundRect">
            <a:avLst>
              <a:gd name="adj" fmla="val 3579"/>
            </a:avLst>
          </a:prstGeom>
          <a:solidFill>
            <a:srgbClr val="F4F7FA"/>
          </a:solidFill>
          <a:ln w="12700">
            <a:solidFill>
              <a:srgbClr val="D6E0E8"/>
            </a:solidFill>
            <a:prstDash val="solid"/>
          </a:ln>
        </p:spPr>
      </p:sp>
      <p:sp>
        <p:nvSpPr>
          <p:cNvPr id="27" name="Text 25"/>
          <p:cNvSpPr txBox="1"/>
          <p:nvPr/>
        </p:nvSpPr>
        <p:spPr>
          <a:xfrm>
            <a:off x="4565904" y="4183380"/>
            <a:ext cx="3075432" cy="274320"/>
          </a:xfrm>
          <a:prstGeom prst="rect">
            <a:avLst/>
          </a:prstGeom>
          <a:noFill/>
          <a:ln/>
        </p:spPr>
        <p:txBody>
          <a:bodyPr wrap="square" lIns="0" tIns="0" rIns="0" bIns="0" rtlCol="0" anchor="ctr"/>
          <a:lstStyle/>
          <a:p>
            <a:pPr marL="0" indent="0">
              <a:buNone/>
            </a:pPr>
            <a:r>
              <a:rPr lang="en-US" sz="1150" b="1" kern="0" spc="100" dirty="0">
                <a:solidFill>
                  <a:srgbClr val="2E86AB"/>
                </a:solidFill>
                <a:latin typeface="Calibri" pitchFamily="34" charset="0"/>
                <a:ea typeface="Calibri" pitchFamily="34" charset="-122"/>
                <a:cs typeface="Calibri" pitchFamily="34" charset="-120"/>
              </a:rPr>
              <a:t>TESTING &amp; MAPS</a:t>
            </a:r>
            <a:endParaRPr lang="en-US" sz="1150" dirty="0"/>
          </a:p>
        </p:txBody>
      </p:sp>
      <p:sp>
        <p:nvSpPr>
          <p:cNvPr id="28" name="Text 26"/>
          <p:cNvSpPr txBox="1"/>
          <p:nvPr/>
        </p:nvSpPr>
        <p:spPr>
          <a:xfrm>
            <a:off x="4565904" y="4567428"/>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Postman</a:t>
            </a:r>
            <a:endParaRPr lang="en-US" sz="1250" dirty="0"/>
          </a:p>
        </p:txBody>
      </p:sp>
      <p:sp>
        <p:nvSpPr>
          <p:cNvPr id="29" name="Text 27"/>
          <p:cNvSpPr txBox="1"/>
          <p:nvPr/>
        </p:nvSpPr>
        <p:spPr>
          <a:xfrm>
            <a:off x="4565904" y="4814316"/>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Backend API testing</a:t>
            </a:r>
            <a:endParaRPr lang="en-US" sz="1000" dirty="0"/>
          </a:p>
        </p:txBody>
      </p:sp>
      <p:sp>
        <p:nvSpPr>
          <p:cNvPr id="30" name="Text 28"/>
          <p:cNvSpPr txBox="1"/>
          <p:nvPr/>
        </p:nvSpPr>
        <p:spPr>
          <a:xfrm>
            <a:off x="4565904" y="5225796"/>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Google Maps API</a:t>
            </a:r>
            <a:endParaRPr lang="en-US" sz="1250" dirty="0"/>
          </a:p>
        </p:txBody>
      </p:sp>
      <p:sp>
        <p:nvSpPr>
          <p:cNvPr id="31" name="Text 29"/>
          <p:cNvSpPr txBox="1"/>
          <p:nvPr/>
        </p:nvSpPr>
        <p:spPr>
          <a:xfrm>
            <a:off x="4565904" y="5472684"/>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Locations &amp; navigation</a:t>
            </a:r>
            <a:endParaRPr lang="en-US" sz="1000" dirty="0"/>
          </a:p>
        </p:txBody>
      </p:sp>
      <p:sp>
        <p:nvSpPr>
          <p:cNvPr id="32" name="Shape 30"/>
          <p:cNvSpPr/>
          <p:nvPr/>
        </p:nvSpPr>
        <p:spPr>
          <a:xfrm>
            <a:off x="8125968" y="4037076"/>
            <a:ext cx="3532632" cy="2043684"/>
          </a:xfrm>
          <a:prstGeom prst="roundRect">
            <a:avLst>
              <a:gd name="adj" fmla="val 3579"/>
            </a:avLst>
          </a:prstGeom>
          <a:solidFill>
            <a:srgbClr val="F4F7FA"/>
          </a:solidFill>
          <a:ln w="12700">
            <a:solidFill>
              <a:srgbClr val="D6E0E8"/>
            </a:solidFill>
            <a:prstDash val="solid"/>
          </a:ln>
        </p:spPr>
      </p:sp>
      <p:sp>
        <p:nvSpPr>
          <p:cNvPr id="33" name="Text 31"/>
          <p:cNvSpPr txBox="1"/>
          <p:nvPr/>
        </p:nvSpPr>
        <p:spPr>
          <a:xfrm>
            <a:off x="8354568" y="4183380"/>
            <a:ext cx="3075432" cy="274320"/>
          </a:xfrm>
          <a:prstGeom prst="rect">
            <a:avLst/>
          </a:prstGeom>
          <a:noFill/>
          <a:ln/>
        </p:spPr>
        <p:txBody>
          <a:bodyPr wrap="square" lIns="0" tIns="0" rIns="0" bIns="0" rtlCol="0" anchor="ctr"/>
          <a:lstStyle/>
          <a:p>
            <a:pPr marL="0" indent="0">
              <a:buNone/>
            </a:pPr>
            <a:r>
              <a:rPr lang="en-US" sz="1150" b="1" kern="0" spc="100" dirty="0">
                <a:solidFill>
                  <a:srgbClr val="2E86AB"/>
                </a:solidFill>
                <a:latin typeface="Calibri" pitchFamily="34" charset="0"/>
                <a:ea typeface="Calibri" pitchFamily="34" charset="-122"/>
                <a:cs typeface="Calibri" pitchFamily="34" charset="-120"/>
              </a:rPr>
              <a:t>DESIGN &amp; BROWSER</a:t>
            </a:r>
            <a:endParaRPr lang="en-US" sz="1150" dirty="0"/>
          </a:p>
        </p:txBody>
      </p:sp>
      <p:sp>
        <p:nvSpPr>
          <p:cNvPr id="34" name="Text 32"/>
          <p:cNvSpPr txBox="1"/>
          <p:nvPr/>
        </p:nvSpPr>
        <p:spPr>
          <a:xfrm>
            <a:off x="8354568" y="4567428"/>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Figma</a:t>
            </a:r>
            <a:endParaRPr lang="en-US" sz="1250" dirty="0"/>
          </a:p>
        </p:txBody>
      </p:sp>
      <p:sp>
        <p:nvSpPr>
          <p:cNvPr id="35" name="Text 33"/>
          <p:cNvSpPr txBox="1"/>
          <p:nvPr/>
        </p:nvSpPr>
        <p:spPr>
          <a:xfrm>
            <a:off x="8354568" y="4814316"/>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Interface design &amp; prototyping</a:t>
            </a:r>
            <a:endParaRPr lang="en-US" sz="1000" dirty="0"/>
          </a:p>
        </p:txBody>
      </p:sp>
      <p:sp>
        <p:nvSpPr>
          <p:cNvPr id="36" name="Text 34"/>
          <p:cNvSpPr txBox="1"/>
          <p:nvPr/>
        </p:nvSpPr>
        <p:spPr>
          <a:xfrm>
            <a:off x="8354568" y="5225796"/>
            <a:ext cx="3075432" cy="256032"/>
          </a:xfrm>
          <a:prstGeom prst="rect">
            <a:avLst/>
          </a:prstGeom>
          <a:noFill/>
          <a:ln/>
        </p:spPr>
        <p:txBody>
          <a:bodyPr wrap="square" lIns="0" tIns="0" rIns="0" bIns="0" rtlCol="0" anchor="ctr"/>
          <a:lstStyle/>
          <a:p>
            <a:pPr marL="0" indent="0">
              <a:buNone/>
            </a:pPr>
            <a:r>
              <a:rPr lang="en-US" sz="1250" b="1" dirty="0">
                <a:solidFill>
                  <a:srgbClr val="1E3A5F"/>
                </a:solidFill>
                <a:latin typeface="Calibri" pitchFamily="34" charset="0"/>
                <a:ea typeface="Calibri" pitchFamily="34" charset="-122"/>
                <a:cs typeface="Calibri" pitchFamily="34" charset="-120"/>
              </a:rPr>
              <a:t>Google Chrome</a:t>
            </a:r>
            <a:endParaRPr lang="en-US" sz="1250" dirty="0"/>
          </a:p>
        </p:txBody>
      </p:sp>
      <p:sp>
        <p:nvSpPr>
          <p:cNvPr id="37" name="Text 35"/>
          <p:cNvSpPr txBox="1"/>
          <p:nvPr/>
        </p:nvSpPr>
        <p:spPr>
          <a:xfrm>
            <a:off x="8354568" y="5472684"/>
            <a:ext cx="3075432" cy="320040"/>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Running &amp; testing the app</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6283F"/>
        </a:solidFill>
        <a:effectLst/>
      </p:bgPr>
    </p:bg>
    <p:spTree>
      <p:nvGrpSpPr>
        <p:cNvPr id="1" name=""/>
        <p:cNvGrpSpPr/>
        <p:nvPr/>
      </p:nvGrpSpPr>
      <p:grpSpPr>
        <a:xfrm>
          <a:off x="0" y="0"/>
          <a:ext cx="0" cy="0"/>
          <a:chOff x="0" y="0"/>
          <a:chExt cx="0" cy="0"/>
        </a:xfrm>
      </p:grpSpPr>
      <p:sp>
        <p:nvSpPr>
          <p:cNvPr id="4" name="Text 2"/>
          <p:cNvSpPr txBox="1"/>
          <p:nvPr/>
        </p:nvSpPr>
        <p:spPr>
          <a:xfrm>
            <a:off x="0" y="2514600"/>
            <a:ext cx="12188952"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txBox="1"/>
          <p:nvPr/>
        </p:nvSpPr>
        <p:spPr>
          <a:xfrm>
            <a:off x="0" y="3611880"/>
            <a:ext cx="12188952" cy="457200"/>
          </a:xfrm>
          <a:prstGeom prst="rect">
            <a:avLst/>
          </a:prstGeom>
          <a:noFill/>
          <a:ln/>
        </p:spPr>
        <p:txBody>
          <a:bodyPr wrap="square" lIns="0" tIns="0" rIns="0" bIns="0" rtlCol="0" anchor="ctr"/>
          <a:lstStyle/>
          <a:p>
            <a:pPr marL="0" indent="0" algn="ctr">
              <a:buNone/>
            </a:pPr>
            <a:r>
              <a:rPr lang="en-US" sz="1700" dirty="0">
                <a:solidFill>
                  <a:srgbClr val="CADCE8"/>
                </a:solidFill>
                <a:latin typeface="Calibri" pitchFamily="34" charset="0"/>
                <a:ea typeface="Calibri" pitchFamily="34" charset="-122"/>
                <a:cs typeface="Calibri" pitchFamily="34" charset="-120"/>
              </a:rPr>
              <a:t>Vehicle Parking Finder &amp; Booking App</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7</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49</cp:revision>
  <dcterms:created xsi:type="dcterms:W3CDTF">2026-08-30T08:50:21Z</dcterms:created>
  <dcterms:modified xsi:type="dcterms:W3CDTF">2026-08-30T09:08:52Z</dcterms:modified>
</cp:coreProperties>
</file>